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145710127" r:id="rId2"/>
    <p:sldId id="2145710153" r:id="rId3"/>
    <p:sldId id="269" r:id="rId4"/>
    <p:sldId id="2145710137" r:id="rId5"/>
    <p:sldId id="271" r:id="rId6"/>
    <p:sldId id="258" r:id="rId7"/>
    <p:sldId id="2145710139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190"/>
    <a:srgbClr val="7206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7"/>
    <p:restoredTop sz="94658"/>
  </p:normalViewPr>
  <p:slideViewPr>
    <p:cSldViewPr snapToGrid="0">
      <p:cViewPr varScale="1">
        <p:scale>
          <a:sx n="119" d="100"/>
          <a:sy n="119" d="100"/>
        </p:scale>
        <p:origin x="384" y="9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FAE727-88A7-7D46-9669-A50E64F64C19}" type="doc">
      <dgm:prSet loTypeId="urn:microsoft.com/office/officeart/2005/8/layout/process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21B933B-C15B-4A40-A6BB-045B78581659}">
      <dgm:prSet phldrT="[Text]" custT="1"/>
      <dgm:spPr/>
      <dgm:t>
        <a:bodyPr/>
        <a:lstStyle/>
        <a:p>
          <a:pPr rtl="0"/>
          <a:r>
            <a:rPr lang="en-US" sz="1400" b="1" dirty="0"/>
            <a:t>Patient Admission</a:t>
          </a:r>
        </a:p>
        <a:p>
          <a:pPr rtl="0"/>
          <a:r>
            <a:rPr lang="en-US" sz="1200" dirty="0"/>
            <a:t>EHR Data Entry</a:t>
          </a:r>
        </a:p>
      </dgm:t>
    </dgm:pt>
    <dgm:pt modelId="{A7BC2B69-C7E9-C649-BDCB-9EDE618ED211}" type="parTrans" cxnId="{CF967159-EAED-984F-9F7D-1DD4F2D48AD5}">
      <dgm:prSet/>
      <dgm:spPr/>
      <dgm:t>
        <a:bodyPr/>
        <a:lstStyle/>
        <a:p>
          <a:endParaRPr lang="en-US"/>
        </a:p>
      </dgm:t>
    </dgm:pt>
    <dgm:pt modelId="{DE042EAD-B02C-2246-97F3-D1E73655A6DB}" type="sibTrans" cxnId="{CF967159-EAED-984F-9F7D-1DD4F2D48AD5}">
      <dgm:prSet/>
      <dgm:spPr/>
      <dgm:t>
        <a:bodyPr/>
        <a:lstStyle/>
        <a:p>
          <a:endParaRPr lang="en-US"/>
        </a:p>
      </dgm:t>
    </dgm:pt>
    <dgm:pt modelId="{30D650C3-533D-C44A-873B-B9DD10FFEA2E}">
      <dgm:prSet phldrT="[Text]" custT="1"/>
      <dgm:spPr>
        <a:solidFill>
          <a:schemeClr val="accent4">
            <a:lumMod val="75000"/>
          </a:schemeClr>
        </a:solidFill>
      </dgm:spPr>
      <dgm:t>
        <a:bodyPr/>
        <a:lstStyle/>
        <a:p>
          <a:pPr rtl="0"/>
          <a:r>
            <a:rPr lang="en-US" sz="1400" b="1" dirty="0"/>
            <a:t>CARE-AI Analysis</a:t>
          </a:r>
        </a:p>
        <a:p>
          <a:pPr rtl="0"/>
          <a:r>
            <a:rPr lang="en-US" sz="1200" dirty="0"/>
            <a:t>Matches patient to modifiable risk factors</a:t>
          </a:r>
          <a:endParaRPr lang="en-US" sz="1100" dirty="0"/>
        </a:p>
      </dgm:t>
    </dgm:pt>
    <dgm:pt modelId="{D1275885-A89D-0843-9763-1C21BF30F4FF}" type="parTrans" cxnId="{21B57E07-2E48-024F-A4C8-782AA39E6B32}">
      <dgm:prSet/>
      <dgm:spPr/>
      <dgm:t>
        <a:bodyPr/>
        <a:lstStyle/>
        <a:p>
          <a:endParaRPr lang="en-US"/>
        </a:p>
      </dgm:t>
    </dgm:pt>
    <dgm:pt modelId="{6F35DE74-1AF5-334A-9786-E4AC8ACB5D1B}" type="sibTrans" cxnId="{21B57E07-2E48-024F-A4C8-782AA39E6B32}">
      <dgm:prSet/>
      <dgm:spPr/>
      <dgm:t>
        <a:bodyPr/>
        <a:lstStyle/>
        <a:p>
          <a:endParaRPr lang="en-US"/>
        </a:p>
      </dgm:t>
    </dgm:pt>
    <dgm:pt modelId="{F5FA0CDD-0F17-EC4F-A111-892BB6A7AF40}">
      <dgm:prSet phldrT="[Text]" custT="1"/>
      <dgm:spPr>
        <a:solidFill>
          <a:schemeClr val="accent6">
            <a:lumMod val="50000"/>
          </a:schemeClr>
        </a:solidFill>
      </dgm:spPr>
      <dgm:t>
        <a:bodyPr/>
        <a:lstStyle/>
        <a:p>
          <a:pPr rtl="0"/>
          <a:r>
            <a:rPr lang="en-US" sz="1400" b="1" dirty="0"/>
            <a:t>Recommendation</a:t>
          </a:r>
        </a:p>
        <a:p>
          <a:pPr rtl="0"/>
          <a:r>
            <a:rPr lang="en-US" sz="1200" dirty="0"/>
            <a:t>"Suggested: Medication Review"</a:t>
          </a:r>
        </a:p>
      </dgm:t>
    </dgm:pt>
    <dgm:pt modelId="{51D1F731-CDC0-844C-ADB2-3528B19D0F67}" type="parTrans" cxnId="{C0A0C443-DAB8-8842-BE5A-332DF0D1F01E}">
      <dgm:prSet/>
      <dgm:spPr/>
      <dgm:t>
        <a:bodyPr/>
        <a:lstStyle/>
        <a:p>
          <a:endParaRPr lang="en-US"/>
        </a:p>
      </dgm:t>
    </dgm:pt>
    <dgm:pt modelId="{5712663A-794F-A546-87B1-5C4D0F1A734E}" type="sibTrans" cxnId="{C0A0C443-DAB8-8842-BE5A-332DF0D1F01E}">
      <dgm:prSet/>
      <dgm:spPr/>
      <dgm:t>
        <a:bodyPr/>
        <a:lstStyle/>
        <a:p>
          <a:endParaRPr lang="en-US"/>
        </a:p>
      </dgm:t>
    </dgm:pt>
    <dgm:pt modelId="{573F8ACA-9E78-6C43-9210-FCAAF4D8B63E}">
      <dgm:prSet custT="1"/>
      <dgm:spPr>
        <a:solidFill>
          <a:schemeClr val="accent5">
            <a:lumMod val="75000"/>
          </a:schemeClr>
        </a:solidFill>
      </dgm:spPr>
      <dgm:t>
        <a:bodyPr/>
        <a:lstStyle/>
        <a:p>
          <a:pPr rtl="0">
            <a:buNone/>
          </a:pPr>
          <a:r>
            <a:rPr lang="en-US" sz="1400" b="1" dirty="0"/>
            <a:t>Clinician Decision</a:t>
          </a:r>
        </a:p>
        <a:p>
          <a:pPr rtl="0">
            <a:buNone/>
          </a:pPr>
          <a:r>
            <a:rPr lang="en-US" sz="1200" dirty="0"/>
            <a:t>Accept / Modify / Reject</a:t>
          </a:r>
        </a:p>
      </dgm:t>
    </dgm:pt>
    <dgm:pt modelId="{AA7F2F1B-43FB-9D44-B9D5-F9124D6A30AE}" type="parTrans" cxnId="{5274B8EE-9A65-0240-A2CE-C34438274C51}">
      <dgm:prSet/>
      <dgm:spPr/>
      <dgm:t>
        <a:bodyPr/>
        <a:lstStyle/>
        <a:p>
          <a:endParaRPr lang="en-US"/>
        </a:p>
      </dgm:t>
    </dgm:pt>
    <dgm:pt modelId="{8FA5C49E-23B7-6648-AA98-B6BE8A748070}" type="sibTrans" cxnId="{5274B8EE-9A65-0240-A2CE-C34438274C51}">
      <dgm:prSet/>
      <dgm:spPr/>
      <dgm:t>
        <a:bodyPr/>
        <a:lstStyle/>
        <a:p>
          <a:endParaRPr lang="en-US"/>
        </a:p>
      </dgm:t>
    </dgm:pt>
    <dgm:pt modelId="{982E92CD-D882-2B4E-B56C-0B3C9D56B02C}" type="pres">
      <dgm:prSet presAssocID="{23FAE727-88A7-7D46-9669-A50E64F64C19}" presName="Name0" presStyleCnt="0">
        <dgm:presLayoutVars>
          <dgm:dir/>
          <dgm:resizeHandles val="exact"/>
        </dgm:presLayoutVars>
      </dgm:prSet>
      <dgm:spPr/>
    </dgm:pt>
    <dgm:pt modelId="{71FA0F57-5009-BF48-8E80-08958CFE2007}" type="pres">
      <dgm:prSet presAssocID="{021B933B-C15B-4A40-A6BB-045B78581659}" presName="node" presStyleLbl="node1" presStyleIdx="0" presStyleCnt="4">
        <dgm:presLayoutVars>
          <dgm:bulletEnabled val="1"/>
        </dgm:presLayoutVars>
      </dgm:prSet>
      <dgm:spPr/>
    </dgm:pt>
    <dgm:pt modelId="{2DB5E2A8-F667-A346-82B2-C48E571BBB0C}" type="pres">
      <dgm:prSet presAssocID="{DE042EAD-B02C-2246-97F3-D1E73655A6DB}" presName="sibTrans" presStyleLbl="sibTrans2D1" presStyleIdx="0" presStyleCnt="3"/>
      <dgm:spPr/>
    </dgm:pt>
    <dgm:pt modelId="{9DA147FE-23EA-1842-83A9-7776D9A3398D}" type="pres">
      <dgm:prSet presAssocID="{DE042EAD-B02C-2246-97F3-D1E73655A6DB}" presName="connectorText" presStyleLbl="sibTrans2D1" presStyleIdx="0" presStyleCnt="3"/>
      <dgm:spPr/>
    </dgm:pt>
    <dgm:pt modelId="{52121185-966E-FC41-B10B-B4CB4BD25E16}" type="pres">
      <dgm:prSet presAssocID="{30D650C3-533D-C44A-873B-B9DD10FFEA2E}" presName="node" presStyleLbl="node1" presStyleIdx="1" presStyleCnt="4">
        <dgm:presLayoutVars>
          <dgm:bulletEnabled val="1"/>
        </dgm:presLayoutVars>
      </dgm:prSet>
      <dgm:spPr/>
    </dgm:pt>
    <dgm:pt modelId="{F6B51F50-4DFB-4646-BF6E-21C0370E56FF}" type="pres">
      <dgm:prSet presAssocID="{6F35DE74-1AF5-334A-9786-E4AC8ACB5D1B}" presName="sibTrans" presStyleLbl="sibTrans2D1" presStyleIdx="1" presStyleCnt="3"/>
      <dgm:spPr/>
    </dgm:pt>
    <dgm:pt modelId="{39D1F7F6-FFF8-6947-9190-A9C8FB1BAAC4}" type="pres">
      <dgm:prSet presAssocID="{6F35DE74-1AF5-334A-9786-E4AC8ACB5D1B}" presName="connectorText" presStyleLbl="sibTrans2D1" presStyleIdx="1" presStyleCnt="3"/>
      <dgm:spPr/>
    </dgm:pt>
    <dgm:pt modelId="{6210FC16-AC14-9E47-8A8A-034CD474EAD0}" type="pres">
      <dgm:prSet presAssocID="{F5FA0CDD-0F17-EC4F-A111-892BB6A7AF40}" presName="node" presStyleLbl="node1" presStyleIdx="2" presStyleCnt="4">
        <dgm:presLayoutVars>
          <dgm:bulletEnabled val="1"/>
        </dgm:presLayoutVars>
      </dgm:prSet>
      <dgm:spPr/>
    </dgm:pt>
    <dgm:pt modelId="{996438ED-6E9C-5D45-8E74-707D8CB0CC56}" type="pres">
      <dgm:prSet presAssocID="{5712663A-794F-A546-87B1-5C4D0F1A734E}" presName="sibTrans" presStyleLbl="sibTrans2D1" presStyleIdx="2" presStyleCnt="3"/>
      <dgm:spPr/>
    </dgm:pt>
    <dgm:pt modelId="{250861E2-0F81-0B4B-B174-9933D6837FB6}" type="pres">
      <dgm:prSet presAssocID="{5712663A-794F-A546-87B1-5C4D0F1A734E}" presName="connectorText" presStyleLbl="sibTrans2D1" presStyleIdx="2" presStyleCnt="3"/>
      <dgm:spPr/>
    </dgm:pt>
    <dgm:pt modelId="{7BFB3F58-EBC9-7C4F-9AC5-C69F417BCE89}" type="pres">
      <dgm:prSet presAssocID="{573F8ACA-9E78-6C43-9210-FCAAF4D8B63E}" presName="node" presStyleLbl="node1" presStyleIdx="3" presStyleCnt="4">
        <dgm:presLayoutVars>
          <dgm:bulletEnabled val="1"/>
        </dgm:presLayoutVars>
      </dgm:prSet>
      <dgm:spPr/>
    </dgm:pt>
  </dgm:ptLst>
  <dgm:cxnLst>
    <dgm:cxn modelId="{7AEAE203-1212-2341-AEA9-35A83E7B83D8}" type="presOf" srcId="{23FAE727-88A7-7D46-9669-A50E64F64C19}" destId="{982E92CD-D882-2B4E-B56C-0B3C9D56B02C}" srcOrd="0" destOrd="0" presId="urn:microsoft.com/office/officeart/2005/8/layout/process1"/>
    <dgm:cxn modelId="{C3CA9F04-09CE-3F42-8F51-6764F0B5F6F6}" type="presOf" srcId="{573F8ACA-9E78-6C43-9210-FCAAF4D8B63E}" destId="{7BFB3F58-EBC9-7C4F-9AC5-C69F417BCE89}" srcOrd="0" destOrd="0" presId="urn:microsoft.com/office/officeart/2005/8/layout/process1"/>
    <dgm:cxn modelId="{21B57E07-2E48-024F-A4C8-782AA39E6B32}" srcId="{23FAE727-88A7-7D46-9669-A50E64F64C19}" destId="{30D650C3-533D-C44A-873B-B9DD10FFEA2E}" srcOrd="1" destOrd="0" parTransId="{D1275885-A89D-0843-9763-1C21BF30F4FF}" sibTransId="{6F35DE74-1AF5-334A-9786-E4AC8ACB5D1B}"/>
    <dgm:cxn modelId="{EFA38024-1D33-FB4B-8E04-DC86D2227DF8}" type="presOf" srcId="{F5FA0CDD-0F17-EC4F-A111-892BB6A7AF40}" destId="{6210FC16-AC14-9E47-8A8A-034CD474EAD0}" srcOrd="0" destOrd="0" presId="urn:microsoft.com/office/officeart/2005/8/layout/process1"/>
    <dgm:cxn modelId="{C0A0C443-DAB8-8842-BE5A-332DF0D1F01E}" srcId="{23FAE727-88A7-7D46-9669-A50E64F64C19}" destId="{F5FA0CDD-0F17-EC4F-A111-892BB6A7AF40}" srcOrd="2" destOrd="0" parTransId="{51D1F731-CDC0-844C-ADB2-3528B19D0F67}" sibTransId="{5712663A-794F-A546-87B1-5C4D0F1A734E}"/>
    <dgm:cxn modelId="{CC1D2352-E352-5D4E-91D6-4FAA2AC11A60}" type="presOf" srcId="{5712663A-794F-A546-87B1-5C4D0F1A734E}" destId="{996438ED-6E9C-5D45-8E74-707D8CB0CC56}" srcOrd="0" destOrd="0" presId="urn:microsoft.com/office/officeart/2005/8/layout/process1"/>
    <dgm:cxn modelId="{CF967159-EAED-984F-9F7D-1DD4F2D48AD5}" srcId="{23FAE727-88A7-7D46-9669-A50E64F64C19}" destId="{021B933B-C15B-4A40-A6BB-045B78581659}" srcOrd="0" destOrd="0" parTransId="{A7BC2B69-C7E9-C649-BDCB-9EDE618ED211}" sibTransId="{DE042EAD-B02C-2246-97F3-D1E73655A6DB}"/>
    <dgm:cxn modelId="{5BE1B95A-95BA-0541-BC34-2225F9A036E9}" type="presOf" srcId="{5712663A-794F-A546-87B1-5C4D0F1A734E}" destId="{250861E2-0F81-0B4B-B174-9933D6837FB6}" srcOrd="1" destOrd="0" presId="urn:microsoft.com/office/officeart/2005/8/layout/process1"/>
    <dgm:cxn modelId="{FACDA58D-3F74-1E40-9704-CDC442CDFA7B}" type="presOf" srcId="{30D650C3-533D-C44A-873B-B9DD10FFEA2E}" destId="{52121185-966E-FC41-B10B-B4CB4BD25E16}" srcOrd="0" destOrd="0" presId="urn:microsoft.com/office/officeart/2005/8/layout/process1"/>
    <dgm:cxn modelId="{FAE6A68F-9FAC-0847-A9C2-563CF1A1BADB}" type="presOf" srcId="{DE042EAD-B02C-2246-97F3-D1E73655A6DB}" destId="{9DA147FE-23EA-1842-83A9-7776D9A3398D}" srcOrd="1" destOrd="0" presId="urn:microsoft.com/office/officeart/2005/8/layout/process1"/>
    <dgm:cxn modelId="{845299A9-22F0-F147-91AD-2DFD0C18B832}" type="presOf" srcId="{6F35DE74-1AF5-334A-9786-E4AC8ACB5D1B}" destId="{F6B51F50-4DFB-4646-BF6E-21C0370E56FF}" srcOrd="0" destOrd="0" presId="urn:microsoft.com/office/officeart/2005/8/layout/process1"/>
    <dgm:cxn modelId="{2D4DCDB4-064A-C343-B9B6-301B94B4DF12}" type="presOf" srcId="{021B933B-C15B-4A40-A6BB-045B78581659}" destId="{71FA0F57-5009-BF48-8E80-08958CFE2007}" srcOrd="0" destOrd="0" presId="urn:microsoft.com/office/officeart/2005/8/layout/process1"/>
    <dgm:cxn modelId="{6C866CCB-C455-EB4B-9D0A-E0EA91DBF34A}" type="presOf" srcId="{DE042EAD-B02C-2246-97F3-D1E73655A6DB}" destId="{2DB5E2A8-F667-A346-82B2-C48E571BBB0C}" srcOrd="0" destOrd="0" presId="urn:microsoft.com/office/officeart/2005/8/layout/process1"/>
    <dgm:cxn modelId="{D720D4CB-C846-964F-9DDB-B188BE2D7B71}" type="presOf" srcId="{6F35DE74-1AF5-334A-9786-E4AC8ACB5D1B}" destId="{39D1F7F6-FFF8-6947-9190-A9C8FB1BAAC4}" srcOrd="1" destOrd="0" presId="urn:microsoft.com/office/officeart/2005/8/layout/process1"/>
    <dgm:cxn modelId="{5274B8EE-9A65-0240-A2CE-C34438274C51}" srcId="{23FAE727-88A7-7D46-9669-A50E64F64C19}" destId="{573F8ACA-9E78-6C43-9210-FCAAF4D8B63E}" srcOrd="3" destOrd="0" parTransId="{AA7F2F1B-43FB-9D44-B9D5-F9124D6A30AE}" sibTransId="{8FA5C49E-23B7-6648-AA98-B6BE8A748070}"/>
    <dgm:cxn modelId="{740CF09B-47E8-4241-AC32-FAFBF0758854}" type="presParOf" srcId="{982E92CD-D882-2B4E-B56C-0B3C9D56B02C}" destId="{71FA0F57-5009-BF48-8E80-08958CFE2007}" srcOrd="0" destOrd="0" presId="urn:microsoft.com/office/officeart/2005/8/layout/process1"/>
    <dgm:cxn modelId="{83560070-7C52-484C-B1E7-F9FADC918496}" type="presParOf" srcId="{982E92CD-D882-2B4E-B56C-0B3C9D56B02C}" destId="{2DB5E2A8-F667-A346-82B2-C48E571BBB0C}" srcOrd="1" destOrd="0" presId="urn:microsoft.com/office/officeart/2005/8/layout/process1"/>
    <dgm:cxn modelId="{CEBE9934-5CF5-1241-8B27-C510F39CD046}" type="presParOf" srcId="{2DB5E2A8-F667-A346-82B2-C48E571BBB0C}" destId="{9DA147FE-23EA-1842-83A9-7776D9A3398D}" srcOrd="0" destOrd="0" presId="urn:microsoft.com/office/officeart/2005/8/layout/process1"/>
    <dgm:cxn modelId="{14277B67-D92B-5249-8D4B-763EB9B891DD}" type="presParOf" srcId="{982E92CD-D882-2B4E-B56C-0B3C9D56B02C}" destId="{52121185-966E-FC41-B10B-B4CB4BD25E16}" srcOrd="2" destOrd="0" presId="urn:microsoft.com/office/officeart/2005/8/layout/process1"/>
    <dgm:cxn modelId="{67634D41-FFF5-7A43-928E-6CE7C6D7739D}" type="presParOf" srcId="{982E92CD-D882-2B4E-B56C-0B3C9D56B02C}" destId="{F6B51F50-4DFB-4646-BF6E-21C0370E56FF}" srcOrd="3" destOrd="0" presId="urn:microsoft.com/office/officeart/2005/8/layout/process1"/>
    <dgm:cxn modelId="{2108374A-CECE-E043-B6FF-E0D262CDD8BC}" type="presParOf" srcId="{F6B51F50-4DFB-4646-BF6E-21C0370E56FF}" destId="{39D1F7F6-FFF8-6947-9190-A9C8FB1BAAC4}" srcOrd="0" destOrd="0" presId="urn:microsoft.com/office/officeart/2005/8/layout/process1"/>
    <dgm:cxn modelId="{37FF10DA-6F34-1E45-ADED-60BABEC71AD1}" type="presParOf" srcId="{982E92CD-D882-2B4E-B56C-0B3C9D56B02C}" destId="{6210FC16-AC14-9E47-8A8A-034CD474EAD0}" srcOrd="4" destOrd="0" presId="urn:microsoft.com/office/officeart/2005/8/layout/process1"/>
    <dgm:cxn modelId="{4CB7FEE9-D640-884A-AAE9-68C5C9129246}" type="presParOf" srcId="{982E92CD-D882-2B4E-B56C-0B3C9D56B02C}" destId="{996438ED-6E9C-5D45-8E74-707D8CB0CC56}" srcOrd="5" destOrd="0" presId="urn:microsoft.com/office/officeart/2005/8/layout/process1"/>
    <dgm:cxn modelId="{2916544B-037E-E54D-99D1-6BC7E7B5EF80}" type="presParOf" srcId="{996438ED-6E9C-5D45-8E74-707D8CB0CC56}" destId="{250861E2-0F81-0B4B-B174-9933D6837FB6}" srcOrd="0" destOrd="0" presId="urn:microsoft.com/office/officeart/2005/8/layout/process1"/>
    <dgm:cxn modelId="{BF07580E-BDD1-2A4C-87E5-58516997DFC9}" type="presParOf" srcId="{982E92CD-D882-2B4E-B56C-0B3C9D56B02C}" destId="{7BFB3F58-EBC9-7C4F-9AC5-C69F417BCE89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FA0F57-5009-BF48-8E80-08958CFE2007}">
      <dsp:nvSpPr>
        <dsp:cNvPr id="0" name=""/>
        <dsp:cNvSpPr/>
      </dsp:nvSpPr>
      <dsp:spPr>
        <a:xfrm>
          <a:off x="3886" y="602156"/>
          <a:ext cx="1699154" cy="10194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Patient Admission</a:t>
          </a:r>
        </a:p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EHR Data Entry</a:t>
          </a:r>
        </a:p>
      </dsp:txBody>
      <dsp:txXfrm>
        <a:off x="33746" y="632016"/>
        <a:ext cx="1639434" cy="959772"/>
      </dsp:txXfrm>
    </dsp:sp>
    <dsp:sp modelId="{2DB5E2A8-F667-A346-82B2-C48E571BBB0C}">
      <dsp:nvSpPr>
        <dsp:cNvPr id="0" name=""/>
        <dsp:cNvSpPr/>
      </dsp:nvSpPr>
      <dsp:spPr>
        <a:xfrm>
          <a:off x="1872956" y="901207"/>
          <a:ext cx="360220" cy="42139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1872956" y="985485"/>
        <a:ext cx="252154" cy="252834"/>
      </dsp:txXfrm>
    </dsp:sp>
    <dsp:sp modelId="{52121185-966E-FC41-B10B-B4CB4BD25E16}">
      <dsp:nvSpPr>
        <dsp:cNvPr id="0" name=""/>
        <dsp:cNvSpPr/>
      </dsp:nvSpPr>
      <dsp:spPr>
        <a:xfrm>
          <a:off x="2382702" y="602156"/>
          <a:ext cx="1699154" cy="1019492"/>
        </a:xfrm>
        <a:prstGeom prst="roundRect">
          <a:avLst>
            <a:gd name="adj" fmla="val 10000"/>
          </a:avLst>
        </a:prstGeom>
        <a:solidFill>
          <a:schemeClr val="accent4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CARE-AI Analysis</a:t>
          </a:r>
        </a:p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Matches patient to modifiable risk factors</a:t>
          </a:r>
          <a:endParaRPr lang="en-US" sz="1100" kern="1200" dirty="0"/>
        </a:p>
      </dsp:txBody>
      <dsp:txXfrm>
        <a:off x="2412562" y="632016"/>
        <a:ext cx="1639434" cy="959772"/>
      </dsp:txXfrm>
    </dsp:sp>
    <dsp:sp modelId="{F6B51F50-4DFB-4646-BF6E-21C0370E56FF}">
      <dsp:nvSpPr>
        <dsp:cNvPr id="0" name=""/>
        <dsp:cNvSpPr/>
      </dsp:nvSpPr>
      <dsp:spPr>
        <a:xfrm>
          <a:off x="4251772" y="901207"/>
          <a:ext cx="360220" cy="42139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4251772" y="985485"/>
        <a:ext cx="252154" cy="252834"/>
      </dsp:txXfrm>
    </dsp:sp>
    <dsp:sp modelId="{6210FC16-AC14-9E47-8A8A-034CD474EAD0}">
      <dsp:nvSpPr>
        <dsp:cNvPr id="0" name=""/>
        <dsp:cNvSpPr/>
      </dsp:nvSpPr>
      <dsp:spPr>
        <a:xfrm>
          <a:off x="4761518" y="602156"/>
          <a:ext cx="1699154" cy="1019492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Recommendation</a:t>
          </a:r>
        </a:p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"Suggested: Medication Review"</a:t>
          </a:r>
        </a:p>
      </dsp:txBody>
      <dsp:txXfrm>
        <a:off x="4791378" y="632016"/>
        <a:ext cx="1639434" cy="959772"/>
      </dsp:txXfrm>
    </dsp:sp>
    <dsp:sp modelId="{996438ED-6E9C-5D45-8E74-707D8CB0CC56}">
      <dsp:nvSpPr>
        <dsp:cNvPr id="0" name=""/>
        <dsp:cNvSpPr/>
      </dsp:nvSpPr>
      <dsp:spPr>
        <a:xfrm>
          <a:off x="6630588" y="901207"/>
          <a:ext cx="360220" cy="42139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6630588" y="985485"/>
        <a:ext cx="252154" cy="252834"/>
      </dsp:txXfrm>
    </dsp:sp>
    <dsp:sp modelId="{7BFB3F58-EBC9-7C4F-9AC5-C69F417BCE89}">
      <dsp:nvSpPr>
        <dsp:cNvPr id="0" name=""/>
        <dsp:cNvSpPr/>
      </dsp:nvSpPr>
      <dsp:spPr>
        <a:xfrm>
          <a:off x="7140335" y="602156"/>
          <a:ext cx="1699154" cy="1019492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Clinician Decision</a:t>
          </a:r>
        </a:p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Accept / Modify / Reject</a:t>
          </a:r>
        </a:p>
      </dsp:txBody>
      <dsp:txXfrm>
        <a:off x="7170195" y="632016"/>
        <a:ext cx="1639434" cy="9597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9AE435-487E-8E4A-9B65-964FF81D260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5003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project is part of a larger vision that includes clinical trials and aims to integrate with existing clinical workflows.</a:t>
            </a:r>
          </a:p>
          <a:p>
            <a:r>
              <a:rPr lang="en-US" dirty="0"/>
              <a:t>In this DF project, we focus on the methodological and algorithmic aspects, including causal discovery, HTE estimation, and causal RL.</a:t>
            </a:r>
          </a:p>
          <a:p>
            <a:endParaRPr lang="en-US" dirty="0"/>
          </a:p>
          <a:p>
            <a:r>
              <a:rPr lang="en-US" dirty="0"/>
              <a:t>Causal discovery identifies modifiable factors in patients’ data that may cause readmission.</a:t>
            </a:r>
            <a:br>
              <a:rPr lang="en-US" dirty="0"/>
            </a:br>
            <a:r>
              <a:rPr lang="en-US" dirty="0"/>
              <a:t>HTE estimation quantifies the benefits of different healthcare interventions across different patient groups.</a:t>
            </a:r>
            <a:br>
              <a:rPr lang="en-US" dirty="0"/>
            </a:br>
            <a:r>
              <a:rPr lang="en-US" dirty="0"/>
              <a:t>Causal RL provides a sequential decision-support system for a clinician to implement optimal healthcare interventions at optimal times.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9AE435-487E-8E4A-9B65-964FF81D260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614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771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5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E6F21-D844-B0E8-7610-1FB27C6546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3032" y="286474"/>
            <a:ext cx="2841575" cy="572286"/>
          </a:xfrm>
        </p:spPr>
        <p:txBody>
          <a:bodyPr>
            <a:normAutofit fontScale="90000"/>
          </a:bodyPr>
          <a:lstStyle/>
          <a:p>
            <a:pPr algn="l"/>
            <a:r>
              <a:rPr lang="en-US" sz="3300" noProof="0" dirty="0">
                <a:solidFill>
                  <a:srgbClr val="002060"/>
                </a:solidFill>
              </a:rPr>
              <a:t>CARE-AI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6F2364-4E13-52AB-E5EE-EFA5297F34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83032" y="953671"/>
            <a:ext cx="2711144" cy="989963"/>
          </a:xfrm>
        </p:spPr>
        <p:txBody>
          <a:bodyPr>
            <a:noAutofit/>
          </a:bodyPr>
          <a:lstStyle/>
          <a:p>
            <a:pPr marL="9525" indent="0" algn="l"/>
            <a:r>
              <a:rPr lang="en-US" sz="1500" noProof="0" dirty="0">
                <a:solidFill>
                  <a:srgbClr val="002060"/>
                </a:solidFill>
              </a:rPr>
              <a:t>Causal Adaptive Reasoning for Effective Hospital Admission Interventions </a:t>
            </a:r>
          </a:p>
        </p:txBody>
      </p:sp>
      <p:pic>
        <p:nvPicPr>
          <p:cNvPr id="4" name="Picture 3" descr="People holding hands">
            <a:extLst>
              <a:ext uri="{FF2B5EF4-FFF2-40B4-BE49-F238E27FC236}">
                <a16:creationId xmlns:a16="http://schemas.microsoft.com/office/drawing/2014/main" id="{969610E1-A015-AEE3-6CA8-34A2747F51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225" r="8063" b="-1"/>
          <a:stretch>
            <a:fillRect/>
          </a:stretch>
        </p:blipFill>
        <p:spPr>
          <a:xfrm>
            <a:off x="2" y="7"/>
            <a:ext cx="5525814" cy="51434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A65BB8-2917-A462-3971-D1F5615FE971}"/>
              </a:ext>
            </a:extLst>
          </p:cNvPr>
          <p:cNvSpPr txBox="1"/>
          <p:nvPr/>
        </p:nvSpPr>
        <p:spPr>
          <a:xfrm>
            <a:off x="5793296" y="1901594"/>
            <a:ext cx="2748434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noProof="0" dirty="0">
                <a:solidFill>
                  <a:srgbClr val="002060"/>
                </a:solidFill>
                <a:cs typeface="Arial" panose="020B0604020202020204" pitchFamily="34" charset="0"/>
              </a:rPr>
              <a:t>Karl H. Johansson</a:t>
            </a:r>
            <a:r>
              <a:rPr lang="en-US" sz="1050" b="1" dirty="0">
                <a:solidFill>
                  <a:srgbClr val="002060"/>
                </a:solidFill>
                <a:cs typeface="Arial" panose="020B0604020202020204" pitchFamily="34" charset="0"/>
              </a:rPr>
              <a:t>, </a:t>
            </a:r>
            <a:r>
              <a:rPr lang="en-US" sz="1050" dirty="0">
                <a:solidFill>
                  <a:srgbClr val="002060"/>
                </a:solidFill>
                <a:cs typeface="Arial" panose="020B0604020202020204" pitchFamily="34" charset="0"/>
              </a:rPr>
              <a:t>Professor</a:t>
            </a:r>
            <a:endParaRPr lang="en-US" sz="1050" b="1" noProof="0" dirty="0">
              <a:solidFill>
                <a:srgbClr val="002060"/>
              </a:solidFill>
              <a:cs typeface="Arial" panose="020B0604020202020204" pitchFamily="34" charset="0"/>
            </a:endParaRPr>
          </a:p>
          <a:p>
            <a:r>
              <a:rPr lang="en-US" sz="1050" b="1" noProof="0" dirty="0">
                <a:solidFill>
                  <a:srgbClr val="002060"/>
                </a:solidFill>
                <a:cs typeface="Arial" panose="020B0604020202020204" pitchFamily="34" charset="0"/>
              </a:rPr>
              <a:t>M. Umar B. Niazi</a:t>
            </a:r>
            <a:r>
              <a:rPr lang="en-US" sz="1050" noProof="0" dirty="0">
                <a:solidFill>
                  <a:srgbClr val="002060"/>
                </a:solidFill>
                <a:cs typeface="Arial" panose="020B0604020202020204" pitchFamily="34" charset="0"/>
              </a:rPr>
              <a:t>, Postdoc</a:t>
            </a:r>
          </a:p>
          <a:p>
            <a:r>
              <a:rPr lang="en-US" sz="1050" b="1" dirty="0">
                <a:solidFill>
                  <a:srgbClr val="002060"/>
                </a:solidFill>
                <a:cs typeface="Arial" panose="020B0604020202020204" pitchFamily="34" charset="0"/>
              </a:rPr>
              <a:t>Amir M. K. </a:t>
            </a:r>
            <a:r>
              <a:rPr lang="en-US" sz="1050" b="1" dirty="0" err="1">
                <a:solidFill>
                  <a:srgbClr val="002060"/>
                </a:solidFill>
                <a:cs typeface="Arial" panose="020B0604020202020204" pitchFamily="34" charset="0"/>
              </a:rPr>
              <a:t>Mamaghan</a:t>
            </a:r>
            <a:r>
              <a:rPr lang="en-US" sz="1050" dirty="0">
                <a:solidFill>
                  <a:srgbClr val="002060"/>
                </a:solidFill>
                <a:cs typeface="Arial" panose="020B0604020202020204" pitchFamily="34" charset="0"/>
              </a:rPr>
              <a:t>, PhD Student</a:t>
            </a:r>
            <a:endParaRPr lang="en-US" sz="1050" b="1" dirty="0">
              <a:solidFill>
                <a:srgbClr val="002060"/>
              </a:solidFill>
              <a:cs typeface="Arial" panose="020B0604020202020204" pitchFamily="34" charset="0"/>
            </a:endParaRPr>
          </a:p>
          <a:p>
            <a:r>
              <a:rPr lang="en-US" sz="1050" b="1" dirty="0">
                <a:solidFill>
                  <a:srgbClr val="002060"/>
                </a:solidFill>
                <a:cs typeface="Arial" panose="020B0604020202020204" pitchFamily="34" charset="0"/>
              </a:rPr>
              <a:t>Wouter </a:t>
            </a:r>
            <a:r>
              <a:rPr lang="en-US" sz="1050" b="1" dirty="0" err="1">
                <a:solidFill>
                  <a:srgbClr val="002060"/>
                </a:solidFill>
                <a:cs typeface="Arial" panose="020B0604020202020204" pitchFamily="34" charset="0"/>
              </a:rPr>
              <a:t>Jongeneel</a:t>
            </a:r>
            <a:r>
              <a:rPr lang="en-US" sz="1050" dirty="0">
                <a:solidFill>
                  <a:srgbClr val="002060"/>
                </a:solidFill>
                <a:cs typeface="Arial" panose="020B0604020202020204" pitchFamily="34" charset="0"/>
              </a:rPr>
              <a:t>, Postdoc</a:t>
            </a:r>
            <a:endParaRPr lang="en-US" sz="1050" b="1" dirty="0">
              <a:solidFill>
                <a:srgbClr val="002060"/>
              </a:solidFill>
              <a:cs typeface="Arial" panose="020B0604020202020204" pitchFamily="34" charset="0"/>
            </a:endParaRPr>
          </a:p>
          <a:p>
            <a:endParaRPr lang="en-US" sz="1050" noProof="0" dirty="0">
              <a:solidFill>
                <a:srgbClr val="002060"/>
              </a:solidFill>
              <a:cs typeface="Arial" panose="020B0604020202020204" pitchFamily="34" charset="0"/>
            </a:endParaRPr>
          </a:p>
          <a:p>
            <a:endParaRPr lang="en-US" sz="1050" b="1" u="sng" dirty="0">
              <a:solidFill>
                <a:srgbClr val="C00000"/>
              </a:solidFill>
              <a:cs typeface="Arial" panose="020B0604020202020204" pitchFamily="34" charset="0"/>
            </a:endParaRPr>
          </a:p>
          <a:p>
            <a:r>
              <a:rPr lang="en-US" sz="1050" b="1" noProof="0" dirty="0">
                <a:solidFill>
                  <a:srgbClr val="002060"/>
                </a:solidFill>
                <a:cs typeface="Arial" panose="020B0604020202020204" pitchFamily="34" charset="0"/>
              </a:rPr>
              <a:t>Patrik </a:t>
            </a:r>
            <a:r>
              <a:rPr lang="en-US" sz="1050" b="1" noProof="0" dirty="0" err="1">
                <a:solidFill>
                  <a:srgbClr val="002060"/>
                </a:solidFill>
                <a:cs typeface="Arial" panose="020B0604020202020204" pitchFamily="34" charset="0"/>
              </a:rPr>
              <a:t>Lyngå</a:t>
            </a:r>
            <a:r>
              <a:rPr lang="en-US" sz="1050" noProof="0" dirty="0">
                <a:solidFill>
                  <a:srgbClr val="002060"/>
                </a:solidFill>
                <a:cs typeface="Arial" panose="020B0604020202020204" pitchFamily="34" charset="0"/>
              </a:rPr>
              <a:t>, Ph.D., Docent,</a:t>
            </a:r>
            <a:br>
              <a:rPr lang="en-US" sz="1050" noProof="0" dirty="0">
                <a:solidFill>
                  <a:srgbClr val="002060"/>
                </a:solidFill>
                <a:cs typeface="Arial" panose="020B0604020202020204" pitchFamily="34" charset="0"/>
              </a:rPr>
            </a:br>
            <a:r>
              <a:rPr lang="en-US" sz="1050" i="1" noProof="0" dirty="0">
                <a:solidFill>
                  <a:srgbClr val="002060"/>
                </a:solidFill>
                <a:cs typeface="Arial" panose="020B0604020202020204" pitchFamily="34" charset="0"/>
              </a:rPr>
              <a:t>Senior Lecturer &amp; Nurse</a:t>
            </a:r>
            <a:endParaRPr lang="en-US" sz="1050" noProof="0" dirty="0">
              <a:solidFill>
                <a:srgbClr val="002060"/>
              </a:solidFill>
              <a:cs typeface="Arial" panose="020B0604020202020204" pitchFamily="34" charset="0"/>
            </a:endParaRPr>
          </a:p>
          <a:p>
            <a:r>
              <a:rPr lang="en-US" sz="1050" noProof="0" dirty="0" err="1">
                <a:solidFill>
                  <a:srgbClr val="002060"/>
                </a:solidFill>
                <a:cs typeface="Arial" panose="020B0604020202020204" pitchFamily="34" charset="0"/>
              </a:rPr>
              <a:t>Södersjukhuset</a:t>
            </a:r>
            <a:r>
              <a:rPr lang="en-US" sz="1050" noProof="0" dirty="0">
                <a:solidFill>
                  <a:srgbClr val="002060"/>
                </a:solidFill>
                <a:cs typeface="Arial" panose="020B0604020202020204" pitchFamily="34" charset="0"/>
              </a:rPr>
              <a:t> Cardiology</a:t>
            </a:r>
          </a:p>
          <a:p>
            <a:endParaRPr lang="en-US" sz="1050" noProof="0" dirty="0">
              <a:solidFill>
                <a:srgbClr val="002060"/>
              </a:solidFill>
              <a:cs typeface="Arial" panose="020B0604020202020204" pitchFamily="34" charset="0"/>
            </a:endParaRPr>
          </a:p>
          <a:p>
            <a:r>
              <a:rPr lang="en-US" sz="1050" b="1" noProof="0" dirty="0">
                <a:solidFill>
                  <a:srgbClr val="002060"/>
                </a:solidFill>
                <a:cs typeface="Arial" panose="020B0604020202020204" pitchFamily="34" charset="0"/>
              </a:rPr>
              <a:t>Raffaele Scorza</a:t>
            </a:r>
            <a:r>
              <a:rPr lang="en-US" sz="1050" noProof="0" dirty="0">
                <a:solidFill>
                  <a:srgbClr val="002060"/>
                </a:solidFill>
                <a:cs typeface="Arial" panose="020B0604020202020204" pitchFamily="34" charset="0"/>
              </a:rPr>
              <a:t>, M.D., Ph.D., </a:t>
            </a:r>
            <a:br>
              <a:rPr lang="en-US" sz="1050" noProof="0" dirty="0">
                <a:solidFill>
                  <a:srgbClr val="002060"/>
                </a:solidFill>
                <a:cs typeface="Arial" panose="020B0604020202020204" pitchFamily="34" charset="0"/>
              </a:rPr>
            </a:br>
            <a:r>
              <a:rPr lang="en-US" sz="1050" i="1" noProof="0" dirty="0">
                <a:solidFill>
                  <a:srgbClr val="002060"/>
                </a:solidFill>
                <a:cs typeface="Arial" panose="020B0604020202020204" pitchFamily="34" charset="0"/>
              </a:rPr>
              <a:t>Researcher &amp; Senior Physician</a:t>
            </a:r>
            <a:r>
              <a:rPr lang="en-US" sz="1050" noProof="0" dirty="0">
                <a:solidFill>
                  <a:srgbClr val="002060"/>
                </a:solidFill>
                <a:cs typeface="Arial" panose="020B0604020202020204" pitchFamily="34" charset="0"/>
              </a:rPr>
              <a:t> </a:t>
            </a:r>
            <a:r>
              <a:rPr lang="en-US" sz="1050" noProof="0" dirty="0" err="1">
                <a:solidFill>
                  <a:srgbClr val="002060"/>
                </a:solidFill>
                <a:cs typeface="Arial" panose="020B0604020202020204" pitchFamily="34" charset="0"/>
              </a:rPr>
              <a:t>Södersjukhuset</a:t>
            </a:r>
            <a:r>
              <a:rPr lang="en-US" sz="1050" noProof="0" dirty="0">
                <a:solidFill>
                  <a:srgbClr val="002060"/>
                </a:solidFill>
                <a:cs typeface="Arial" panose="020B0604020202020204" pitchFamily="34" charset="0"/>
              </a:rPr>
              <a:t> Cardiology</a:t>
            </a:r>
          </a:p>
          <a:p>
            <a:endParaRPr lang="en-US" sz="1050" noProof="0" dirty="0">
              <a:solidFill>
                <a:srgbClr val="002060"/>
              </a:solidFill>
              <a:cs typeface="Arial" panose="020B0604020202020204" pitchFamily="34" charset="0"/>
            </a:endParaRPr>
          </a:p>
          <a:p>
            <a:endParaRPr lang="en-US" sz="1050" b="1" u="sng" dirty="0">
              <a:solidFill>
                <a:srgbClr val="C00000"/>
              </a:solidFill>
              <a:cs typeface="Arial" panose="020B0604020202020204" pitchFamily="34" charset="0"/>
            </a:endParaRPr>
          </a:p>
          <a:p>
            <a:r>
              <a:rPr lang="en-US" sz="1050" b="1" noProof="0" dirty="0">
                <a:solidFill>
                  <a:srgbClr val="002060"/>
                </a:solidFill>
                <a:cs typeface="Arial" panose="020B0604020202020204" pitchFamily="34" charset="0"/>
              </a:rPr>
              <a:t>Jenny </a:t>
            </a:r>
            <a:r>
              <a:rPr lang="en-US" sz="1050" b="1" noProof="0" dirty="0" err="1">
                <a:solidFill>
                  <a:srgbClr val="002060"/>
                </a:solidFill>
                <a:cs typeface="Arial" panose="020B0604020202020204" pitchFamily="34" charset="0"/>
              </a:rPr>
              <a:t>Censin</a:t>
            </a:r>
            <a:r>
              <a:rPr lang="en-US" sz="1050" noProof="0" dirty="0">
                <a:solidFill>
                  <a:srgbClr val="002060"/>
                </a:solidFill>
                <a:cs typeface="Arial" panose="020B0604020202020204" pitchFamily="34" charset="0"/>
              </a:rPr>
              <a:t>, M.D., Ph.D.,</a:t>
            </a:r>
          </a:p>
          <a:p>
            <a:r>
              <a:rPr lang="en-US" sz="1050" i="1" noProof="0" dirty="0">
                <a:solidFill>
                  <a:srgbClr val="002060"/>
                </a:solidFill>
                <a:cs typeface="Arial" panose="020B0604020202020204" pitchFamily="34" charset="0"/>
              </a:rPr>
              <a:t>Senior Consultant</a:t>
            </a:r>
            <a:br>
              <a:rPr lang="en-US" sz="1050" noProof="0" dirty="0">
                <a:solidFill>
                  <a:srgbClr val="002060"/>
                </a:solidFill>
                <a:cs typeface="Arial" panose="020B0604020202020204" pitchFamily="34" charset="0"/>
              </a:rPr>
            </a:br>
            <a:r>
              <a:rPr lang="en-US" sz="1050" noProof="0" dirty="0">
                <a:solidFill>
                  <a:srgbClr val="002060"/>
                </a:solidFill>
                <a:cs typeface="Arial" panose="020B0604020202020204" pitchFamily="34" charset="0"/>
              </a:rPr>
              <a:t>Sirona Health Solutions</a:t>
            </a:r>
            <a:endParaRPr lang="en-US" sz="1050" i="1" noProof="0" dirty="0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pic>
        <p:nvPicPr>
          <p:cNvPr id="1026" name="Picture 2" descr="The KTH International Student Blog – Follow the daily life ...">
            <a:extLst>
              <a:ext uri="{FF2B5EF4-FFF2-40B4-BE49-F238E27FC236}">
                <a16:creationId xmlns:a16="http://schemas.microsoft.com/office/drawing/2014/main" id="{66CAF901-B313-98B0-9C19-344FA23AF7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2652" y="2022634"/>
            <a:ext cx="522809" cy="512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ödersjukhuset | Kontakt">
            <a:extLst>
              <a:ext uri="{FF2B5EF4-FFF2-40B4-BE49-F238E27FC236}">
                <a16:creationId xmlns:a16="http://schemas.microsoft.com/office/drawing/2014/main" id="{74DDB50A-D47D-8A36-63E0-DCC88DD4E1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3439" y="3577410"/>
            <a:ext cx="921235" cy="450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Vilka är vi? - Sirona">
            <a:extLst>
              <a:ext uri="{FF2B5EF4-FFF2-40B4-BE49-F238E27FC236}">
                <a16:creationId xmlns:a16="http://schemas.microsoft.com/office/drawing/2014/main" id="{171ECCDA-8AD6-D9CB-1F19-75E9140718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3892" y="4376224"/>
            <a:ext cx="880329" cy="286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Karolinska Institutet's logo | Staff Portal">
            <a:extLst>
              <a:ext uri="{FF2B5EF4-FFF2-40B4-BE49-F238E27FC236}">
                <a16:creationId xmlns:a16="http://schemas.microsoft.com/office/drawing/2014/main" id="{5DE53D1A-F94E-95A0-931A-17F86A0E90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5642" y="2815631"/>
            <a:ext cx="1175808" cy="587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8E6503-FCB7-8618-485A-A365C4541EDE}"/>
              </a:ext>
            </a:extLst>
          </p:cNvPr>
          <p:cNvSpPr txBox="1"/>
          <p:nvPr/>
        </p:nvSpPr>
        <p:spPr>
          <a:xfrm>
            <a:off x="1111909" y="4835723"/>
            <a:ext cx="330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>
                <a:solidFill>
                  <a:schemeClr val="bg1"/>
                </a:solidFill>
              </a:rPr>
              <a:t>Kick-off Meeting, Nov 27</a:t>
            </a:r>
          </a:p>
        </p:txBody>
      </p:sp>
    </p:spTree>
    <p:extLst>
      <p:ext uri="{BB962C8B-B14F-4D97-AF65-F5344CB8AC3E}">
        <p14:creationId xmlns:p14="http://schemas.microsoft.com/office/powerpoint/2010/main" val="1258513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7A95F-0E19-276A-E227-5982C6874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CARE-AI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28BB8-6B10-30A7-58A6-DBE6D029CA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485" y="2269863"/>
            <a:ext cx="2748059" cy="978694"/>
          </a:xfrm>
        </p:spPr>
        <p:txBody>
          <a:bodyPr>
            <a:normAutofit/>
          </a:bodyPr>
          <a:lstStyle/>
          <a:p>
            <a:pPr marL="171450" indent="-171450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C00000"/>
                </a:solidFill>
              </a:rPr>
              <a:t>Predictive analytics: </a:t>
            </a:r>
            <a:r>
              <a:rPr lang="en-US" sz="1200" dirty="0">
                <a:solidFill>
                  <a:srgbClr val="C00000"/>
                </a:solidFill>
              </a:rPr>
              <a:t>Typically identifies who is at risk, but not what actions to take.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EFD322-992D-00E7-78DF-35DF8F7B7243}"/>
              </a:ext>
            </a:extLst>
          </p:cNvPr>
          <p:cNvSpPr txBox="1"/>
          <p:nvPr/>
        </p:nvSpPr>
        <p:spPr>
          <a:xfrm>
            <a:off x="576908" y="3345392"/>
            <a:ext cx="8178209" cy="1687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spcAft>
                <a:spcPts val="450"/>
              </a:spcAft>
            </a:pPr>
            <a:r>
              <a:rPr lang="en-US" sz="1500" b="1" dirty="0">
                <a:solidFill>
                  <a:srgbClr val="002060"/>
                </a:solidFill>
              </a:rPr>
              <a:t>Proposal</a:t>
            </a:r>
          </a:p>
          <a:p>
            <a:pPr marL="214313" indent="-214313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2060"/>
                </a:solidFill>
              </a:rPr>
              <a:t>CARE-AI proposes </a:t>
            </a:r>
            <a:r>
              <a:rPr lang="en-US" sz="1200" b="1" dirty="0">
                <a:solidFill>
                  <a:srgbClr val="002060"/>
                </a:solidFill>
              </a:rPr>
              <a:t>causal adaptive reasoning</a:t>
            </a:r>
            <a:r>
              <a:rPr lang="en-US" sz="1200" dirty="0">
                <a:solidFill>
                  <a:srgbClr val="002060"/>
                </a:solidFill>
              </a:rPr>
              <a:t> to answer: </a:t>
            </a:r>
          </a:p>
          <a:p>
            <a:pPr marL="523875" lvl="4" indent="-115888">
              <a:spcAft>
                <a:spcPts val="450"/>
              </a:spcAft>
              <a:buFont typeface="+mj-lt"/>
              <a:buAutoNum type="arabicPeriod"/>
            </a:pPr>
            <a:r>
              <a:rPr lang="en-US" sz="1200" dirty="0">
                <a:solidFill>
                  <a:srgbClr val="002060"/>
                </a:solidFill>
              </a:rPr>
              <a:t> “Which </a:t>
            </a:r>
            <a:r>
              <a:rPr lang="en-US" sz="1200" i="1" u="sng" dirty="0">
                <a:solidFill>
                  <a:schemeClr val="accent6">
                    <a:lumMod val="50000"/>
                  </a:schemeClr>
                </a:solidFill>
              </a:rPr>
              <a:t>modifiable factors</a:t>
            </a:r>
            <a:r>
              <a:rPr lang="en-US" sz="1200" dirty="0">
                <a:solidFill>
                  <a:srgbClr val="002060"/>
                </a:solidFill>
              </a:rPr>
              <a:t> are causing hospital readmissions?” </a:t>
            </a:r>
          </a:p>
          <a:p>
            <a:pPr marL="523875" lvl="4" indent="-115888">
              <a:spcAft>
                <a:spcPts val="450"/>
              </a:spcAft>
              <a:buFont typeface="+mj-lt"/>
              <a:buAutoNum type="arabicPeriod"/>
            </a:pPr>
            <a:r>
              <a:rPr lang="en-US" sz="1200" dirty="0">
                <a:solidFill>
                  <a:srgbClr val="002060"/>
                </a:solidFill>
              </a:rPr>
              <a:t> “Which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1200" i="1" u="sng" dirty="0">
                <a:solidFill>
                  <a:schemeClr val="accent6">
                    <a:lumMod val="50000"/>
                  </a:schemeClr>
                </a:solidFill>
              </a:rPr>
              <a:t>interventions</a:t>
            </a:r>
            <a:r>
              <a:rPr lang="en-US" sz="1200" dirty="0">
                <a:solidFill>
                  <a:srgbClr val="002060"/>
                </a:solidFill>
              </a:rPr>
              <a:t> will help patients avoid readmission?”</a:t>
            </a:r>
            <a:br>
              <a:rPr lang="en-US" sz="1200" dirty="0">
                <a:solidFill>
                  <a:srgbClr val="002060"/>
                </a:solidFill>
              </a:rPr>
            </a:br>
            <a:endParaRPr lang="en-US" sz="1200" dirty="0">
              <a:solidFill>
                <a:srgbClr val="002060"/>
              </a:solidFill>
            </a:endParaRPr>
          </a:p>
          <a:p>
            <a:pPr marL="214313" indent="-214313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2060"/>
                </a:solidFill>
              </a:rPr>
              <a:t>By advancing from correlation to causation, our approach recommends </a:t>
            </a:r>
            <a:r>
              <a:rPr lang="en-US" sz="1200" b="1" dirty="0">
                <a:solidFill>
                  <a:srgbClr val="002060"/>
                </a:solidFill>
              </a:rPr>
              <a:t>personalized, interpretable interventions</a:t>
            </a:r>
            <a:r>
              <a:rPr lang="en-US" sz="1200" dirty="0">
                <a:solidFill>
                  <a:srgbClr val="002060"/>
                </a:solidFill>
              </a:rPr>
              <a:t> that drive meaningful clinical outcomes.</a:t>
            </a:r>
          </a:p>
        </p:txBody>
      </p:sp>
      <p:pic>
        <p:nvPicPr>
          <p:cNvPr id="6" name="Content Placeholder 6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2A8EBF9B-7ECC-00D7-3920-F00729392B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1762" y="382901"/>
            <a:ext cx="6317033" cy="2684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926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71A80-119D-A1AC-76B8-CD59FCE97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Clinical Decision Support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A98A3-2433-126F-2E0A-262E5EF088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700" y="1152475"/>
            <a:ext cx="5206753" cy="3416400"/>
          </a:xfrm>
        </p:spPr>
        <p:txBody>
          <a:bodyPr/>
          <a:lstStyle/>
          <a:p>
            <a:r>
              <a:rPr lang="en-US" dirty="0"/>
              <a:t>CARE-AI will be a </a:t>
            </a:r>
            <a:r>
              <a:rPr lang="en-US" b="1" dirty="0"/>
              <a:t>clinical decision support system </a:t>
            </a:r>
            <a:r>
              <a:rPr lang="en-US" dirty="0"/>
              <a:t>designed to assist doctors during the discharge process.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93529A-DB1D-EC22-31BC-6B4427110588}"/>
              </a:ext>
            </a:extLst>
          </p:cNvPr>
          <p:cNvSpPr/>
          <p:nvPr/>
        </p:nvSpPr>
        <p:spPr>
          <a:xfrm>
            <a:off x="788922" y="2385722"/>
            <a:ext cx="4589277" cy="784600"/>
          </a:xfrm>
          <a:custGeom>
            <a:avLst/>
            <a:gdLst>
              <a:gd name="connsiteX0" fmla="*/ 0 w 6119036"/>
              <a:gd name="connsiteY0" fmla="*/ 104613 h 1046133"/>
              <a:gd name="connsiteX1" fmla="*/ 104613 w 6119036"/>
              <a:gd name="connsiteY1" fmla="*/ 0 h 1046133"/>
              <a:gd name="connsiteX2" fmla="*/ 6014423 w 6119036"/>
              <a:gd name="connsiteY2" fmla="*/ 0 h 1046133"/>
              <a:gd name="connsiteX3" fmla="*/ 6119036 w 6119036"/>
              <a:gd name="connsiteY3" fmla="*/ 104613 h 1046133"/>
              <a:gd name="connsiteX4" fmla="*/ 6119036 w 6119036"/>
              <a:gd name="connsiteY4" fmla="*/ 941520 h 1046133"/>
              <a:gd name="connsiteX5" fmla="*/ 6014423 w 6119036"/>
              <a:gd name="connsiteY5" fmla="*/ 1046133 h 1046133"/>
              <a:gd name="connsiteX6" fmla="*/ 104613 w 6119036"/>
              <a:gd name="connsiteY6" fmla="*/ 1046133 h 1046133"/>
              <a:gd name="connsiteX7" fmla="*/ 0 w 6119036"/>
              <a:gd name="connsiteY7" fmla="*/ 941520 h 1046133"/>
              <a:gd name="connsiteX8" fmla="*/ 0 w 6119036"/>
              <a:gd name="connsiteY8" fmla="*/ 104613 h 1046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9036" h="1046133">
                <a:moveTo>
                  <a:pt x="0" y="104613"/>
                </a:moveTo>
                <a:cubicBezTo>
                  <a:pt x="0" y="46837"/>
                  <a:pt x="46837" y="0"/>
                  <a:pt x="104613" y="0"/>
                </a:cubicBezTo>
                <a:lnTo>
                  <a:pt x="6014423" y="0"/>
                </a:lnTo>
                <a:cubicBezTo>
                  <a:pt x="6072199" y="0"/>
                  <a:pt x="6119036" y="46837"/>
                  <a:pt x="6119036" y="104613"/>
                </a:cubicBezTo>
                <a:lnTo>
                  <a:pt x="6119036" y="941520"/>
                </a:lnTo>
                <a:cubicBezTo>
                  <a:pt x="6119036" y="999296"/>
                  <a:pt x="6072199" y="1046133"/>
                  <a:pt x="6014423" y="1046133"/>
                </a:cubicBezTo>
                <a:lnTo>
                  <a:pt x="104613" y="1046133"/>
                </a:lnTo>
                <a:cubicBezTo>
                  <a:pt x="46837" y="1046133"/>
                  <a:pt x="0" y="999296"/>
                  <a:pt x="0" y="941520"/>
                </a:cubicBezTo>
                <a:lnTo>
                  <a:pt x="0" y="104613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42035" tIns="45720" rIns="45721" bIns="45720" numCol="1" spcCol="1270" anchor="ctr" anchorCtr="0">
            <a:noAutofit/>
          </a:bodyPr>
          <a:lstStyle/>
          <a:p>
            <a:pPr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kern="1200" dirty="0">
                <a:solidFill>
                  <a:srgbClr val="002060"/>
                </a:solidFill>
              </a:rPr>
              <a:t>It analyzes data and patient histories to identify the root causes of readmissions.</a:t>
            </a:r>
          </a:p>
        </p:txBody>
      </p:sp>
      <p:sp>
        <p:nvSpPr>
          <p:cNvPr id="20" name="Rectangle: Rounded Corners 19" descr="Cause And Effect with solid fill">
            <a:extLst>
              <a:ext uri="{FF2B5EF4-FFF2-40B4-BE49-F238E27FC236}">
                <a16:creationId xmlns:a16="http://schemas.microsoft.com/office/drawing/2014/main" id="{1136A82F-B47A-E231-AC44-D19AB6B6C0A2}"/>
              </a:ext>
            </a:extLst>
          </p:cNvPr>
          <p:cNvSpPr/>
          <p:nvPr/>
        </p:nvSpPr>
        <p:spPr>
          <a:xfrm>
            <a:off x="867382" y="2464181"/>
            <a:ext cx="917855" cy="627680"/>
          </a:xfrm>
          <a:prstGeom prst="roundRect">
            <a:avLst>
              <a:gd name="adj" fmla="val 10000"/>
            </a:avLst>
          </a:prstGeom>
          <a:blipFill rotWithShape="1">
            <a:blip r:embed="rId2"/>
            <a:srcRect/>
            <a:stretch>
              <a:fillRect t="-10000" b="-10000"/>
            </a:stretch>
          </a:blip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sz="105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4490D7E-F4BD-1BDD-E11D-2DA855CA9DDD}"/>
              </a:ext>
            </a:extLst>
          </p:cNvPr>
          <p:cNvSpPr/>
          <p:nvPr/>
        </p:nvSpPr>
        <p:spPr>
          <a:xfrm>
            <a:off x="788922" y="3248781"/>
            <a:ext cx="4589277" cy="784600"/>
          </a:xfrm>
          <a:custGeom>
            <a:avLst/>
            <a:gdLst>
              <a:gd name="connsiteX0" fmla="*/ 0 w 6119036"/>
              <a:gd name="connsiteY0" fmla="*/ 104613 h 1046133"/>
              <a:gd name="connsiteX1" fmla="*/ 104613 w 6119036"/>
              <a:gd name="connsiteY1" fmla="*/ 0 h 1046133"/>
              <a:gd name="connsiteX2" fmla="*/ 6014423 w 6119036"/>
              <a:gd name="connsiteY2" fmla="*/ 0 h 1046133"/>
              <a:gd name="connsiteX3" fmla="*/ 6119036 w 6119036"/>
              <a:gd name="connsiteY3" fmla="*/ 104613 h 1046133"/>
              <a:gd name="connsiteX4" fmla="*/ 6119036 w 6119036"/>
              <a:gd name="connsiteY4" fmla="*/ 941520 h 1046133"/>
              <a:gd name="connsiteX5" fmla="*/ 6014423 w 6119036"/>
              <a:gd name="connsiteY5" fmla="*/ 1046133 h 1046133"/>
              <a:gd name="connsiteX6" fmla="*/ 104613 w 6119036"/>
              <a:gd name="connsiteY6" fmla="*/ 1046133 h 1046133"/>
              <a:gd name="connsiteX7" fmla="*/ 0 w 6119036"/>
              <a:gd name="connsiteY7" fmla="*/ 941520 h 1046133"/>
              <a:gd name="connsiteX8" fmla="*/ 0 w 6119036"/>
              <a:gd name="connsiteY8" fmla="*/ 104613 h 1046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9036" h="1046133">
                <a:moveTo>
                  <a:pt x="0" y="104613"/>
                </a:moveTo>
                <a:cubicBezTo>
                  <a:pt x="0" y="46837"/>
                  <a:pt x="46837" y="0"/>
                  <a:pt x="104613" y="0"/>
                </a:cubicBezTo>
                <a:lnTo>
                  <a:pt x="6014423" y="0"/>
                </a:lnTo>
                <a:cubicBezTo>
                  <a:pt x="6072199" y="0"/>
                  <a:pt x="6119036" y="46837"/>
                  <a:pt x="6119036" y="104613"/>
                </a:cubicBezTo>
                <a:lnTo>
                  <a:pt x="6119036" y="941520"/>
                </a:lnTo>
                <a:cubicBezTo>
                  <a:pt x="6119036" y="999296"/>
                  <a:pt x="6072199" y="1046133"/>
                  <a:pt x="6014423" y="1046133"/>
                </a:cubicBezTo>
                <a:lnTo>
                  <a:pt x="104613" y="1046133"/>
                </a:lnTo>
                <a:cubicBezTo>
                  <a:pt x="46837" y="1046133"/>
                  <a:pt x="0" y="999296"/>
                  <a:pt x="0" y="941520"/>
                </a:cubicBezTo>
                <a:lnTo>
                  <a:pt x="0" y="104613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42035" tIns="45720" rIns="45721" bIns="45720" numCol="1" spcCol="1270" anchor="ctr" anchorCtr="0">
            <a:noAutofit/>
          </a:bodyPr>
          <a:lstStyle/>
          <a:p>
            <a:pPr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kern="1200" dirty="0">
                <a:solidFill>
                  <a:srgbClr val="002060"/>
                </a:solidFill>
              </a:rPr>
              <a:t>It simulates potential futures to identify the best intervention.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25ABE18-60B0-EA2D-B1E9-E0048B2F5B5B}"/>
              </a:ext>
            </a:extLst>
          </p:cNvPr>
          <p:cNvSpPr/>
          <p:nvPr/>
        </p:nvSpPr>
        <p:spPr>
          <a:xfrm>
            <a:off x="866492" y="3326733"/>
            <a:ext cx="917855" cy="628697"/>
          </a:xfrm>
          <a:prstGeom prst="roundRect">
            <a:avLst>
              <a:gd name="adj" fmla="val 10000"/>
            </a:avLst>
          </a:prstGeom>
          <a:blipFill rotWithShape="1">
            <a:blip r:embed="rId3"/>
            <a:srcRect/>
            <a:stretch>
              <a:fillRect t="-10000" b="-10000"/>
            </a:stretch>
          </a:blip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sz="105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47F9E7C-2D50-4158-46D6-8535EAAF4819}"/>
              </a:ext>
            </a:extLst>
          </p:cNvPr>
          <p:cNvSpPr/>
          <p:nvPr/>
        </p:nvSpPr>
        <p:spPr>
          <a:xfrm>
            <a:off x="788922" y="4111841"/>
            <a:ext cx="4589277" cy="784600"/>
          </a:xfrm>
          <a:custGeom>
            <a:avLst/>
            <a:gdLst>
              <a:gd name="connsiteX0" fmla="*/ 0 w 6119036"/>
              <a:gd name="connsiteY0" fmla="*/ 104613 h 1046133"/>
              <a:gd name="connsiteX1" fmla="*/ 104613 w 6119036"/>
              <a:gd name="connsiteY1" fmla="*/ 0 h 1046133"/>
              <a:gd name="connsiteX2" fmla="*/ 6014423 w 6119036"/>
              <a:gd name="connsiteY2" fmla="*/ 0 h 1046133"/>
              <a:gd name="connsiteX3" fmla="*/ 6119036 w 6119036"/>
              <a:gd name="connsiteY3" fmla="*/ 104613 h 1046133"/>
              <a:gd name="connsiteX4" fmla="*/ 6119036 w 6119036"/>
              <a:gd name="connsiteY4" fmla="*/ 941520 h 1046133"/>
              <a:gd name="connsiteX5" fmla="*/ 6014423 w 6119036"/>
              <a:gd name="connsiteY5" fmla="*/ 1046133 h 1046133"/>
              <a:gd name="connsiteX6" fmla="*/ 104613 w 6119036"/>
              <a:gd name="connsiteY6" fmla="*/ 1046133 h 1046133"/>
              <a:gd name="connsiteX7" fmla="*/ 0 w 6119036"/>
              <a:gd name="connsiteY7" fmla="*/ 941520 h 1046133"/>
              <a:gd name="connsiteX8" fmla="*/ 0 w 6119036"/>
              <a:gd name="connsiteY8" fmla="*/ 104613 h 1046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9036" h="1046133">
                <a:moveTo>
                  <a:pt x="0" y="104613"/>
                </a:moveTo>
                <a:cubicBezTo>
                  <a:pt x="0" y="46837"/>
                  <a:pt x="46837" y="0"/>
                  <a:pt x="104613" y="0"/>
                </a:cubicBezTo>
                <a:lnTo>
                  <a:pt x="6014423" y="0"/>
                </a:lnTo>
                <a:cubicBezTo>
                  <a:pt x="6072199" y="0"/>
                  <a:pt x="6119036" y="46837"/>
                  <a:pt x="6119036" y="104613"/>
                </a:cubicBezTo>
                <a:lnTo>
                  <a:pt x="6119036" y="941520"/>
                </a:lnTo>
                <a:cubicBezTo>
                  <a:pt x="6119036" y="999296"/>
                  <a:pt x="6072199" y="1046133"/>
                  <a:pt x="6014423" y="1046133"/>
                </a:cubicBezTo>
                <a:lnTo>
                  <a:pt x="104613" y="1046133"/>
                </a:lnTo>
                <a:cubicBezTo>
                  <a:pt x="46837" y="1046133"/>
                  <a:pt x="0" y="999296"/>
                  <a:pt x="0" y="941520"/>
                </a:cubicBezTo>
                <a:lnTo>
                  <a:pt x="0" y="104613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42035" tIns="45720" rIns="45721" bIns="45720" numCol="1" spcCol="1270" anchor="ctr" anchorCtr="0">
            <a:noAutofit/>
          </a:bodyPr>
          <a:lstStyle/>
          <a:p>
            <a:pPr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kern="1200" dirty="0">
                <a:solidFill>
                  <a:srgbClr val="002060"/>
                </a:solidFill>
              </a:rPr>
              <a:t>It acts as a "second opinion" based on thousands of similar historical cases.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F524D46-CF34-BD29-479D-702612399B8C}"/>
              </a:ext>
            </a:extLst>
          </p:cNvPr>
          <p:cNvSpPr/>
          <p:nvPr/>
        </p:nvSpPr>
        <p:spPr>
          <a:xfrm>
            <a:off x="867382" y="4190301"/>
            <a:ext cx="917855" cy="627680"/>
          </a:xfrm>
          <a:prstGeom prst="roundRect">
            <a:avLst>
              <a:gd name="adj" fmla="val 10000"/>
            </a:avLst>
          </a:prstGeom>
          <a:blipFill rotWithShape="1">
            <a:blip r:embed="rId4"/>
            <a:srcRect/>
            <a:stretch>
              <a:fillRect t="-10000" b="-10000"/>
            </a:stretch>
          </a:blip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sz="10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31EBFD-C9D3-A228-D196-E2CB1EABCFEB}"/>
              </a:ext>
            </a:extLst>
          </p:cNvPr>
          <p:cNvSpPr txBox="1"/>
          <p:nvPr/>
        </p:nvSpPr>
        <p:spPr>
          <a:xfrm>
            <a:off x="6312732" y="3363393"/>
            <a:ext cx="1963886" cy="10089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="t">
            <a:noAutofit/>
          </a:bodyPr>
          <a:lstStyle/>
          <a:p>
            <a:pPr marL="85725">
              <a:spcAft>
                <a:spcPts val="450"/>
              </a:spcAft>
            </a:pPr>
            <a:r>
              <a:rPr lang="en-US" sz="1000" b="1" i="1" dirty="0">
                <a:solidFill>
                  <a:schemeClr val="bg1"/>
                </a:solidFill>
              </a:rPr>
              <a:t>Note for Clinicians:</a:t>
            </a:r>
          </a:p>
          <a:p>
            <a:pPr marL="85725">
              <a:spcAft>
                <a:spcPts val="450"/>
              </a:spcAft>
            </a:pPr>
            <a:r>
              <a:rPr lang="en-US" sz="1000" i="1" dirty="0">
                <a:solidFill>
                  <a:schemeClr val="bg1"/>
                </a:solidFill>
              </a:rPr>
              <a:t>The system does not replace clinical judgment. It provides evidence-based suggestions ("Human-in-the-loop").</a:t>
            </a:r>
          </a:p>
        </p:txBody>
      </p:sp>
      <p:pic>
        <p:nvPicPr>
          <p:cNvPr id="9" name="Content Placeholder 6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66DBE5C4-AF79-5B35-C5C5-25DDC3E14B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8199" y="237419"/>
            <a:ext cx="3629854" cy="1542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526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D746C-22C6-599F-D47E-205904526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 the System would Work (Patient Flow)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A59ACB-C104-0DE2-2234-17F1D4085DEB}"/>
              </a:ext>
            </a:extLst>
          </p:cNvPr>
          <p:cNvSpPr txBox="1"/>
          <p:nvPr/>
        </p:nvSpPr>
        <p:spPr>
          <a:xfrm>
            <a:off x="311700" y="1183533"/>
            <a:ext cx="67683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operational view of CARE-AI in a hospital setting: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3C04A4E2-F7FA-3A64-D7FC-965DD953B3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11903814"/>
              </p:ext>
            </p:extLst>
          </p:nvPr>
        </p:nvGraphicFramePr>
        <p:xfrm>
          <a:off x="150312" y="1352810"/>
          <a:ext cx="8843376" cy="2223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1831B7F-A4CD-319C-7941-0335DBC60E1B}"/>
              </a:ext>
            </a:extLst>
          </p:cNvPr>
          <p:cNvSpPr txBox="1"/>
          <p:nvPr/>
        </p:nvSpPr>
        <p:spPr>
          <a:xfrm>
            <a:off x="1487465" y="3576615"/>
            <a:ext cx="6169069" cy="116955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Example Scenario: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Patient X (82, Heart Failure) is ready for discharge.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CARE-AI flags high readmission risk due to "Medication Adherence."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 suggests: "Enroll in Home Care Monitoring Program."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Doctor reviews and approves the referral.</a:t>
            </a:r>
          </a:p>
        </p:txBody>
      </p:sp>
    </p:spTree>
    <p:extLst>
      <p:ext uri="{BB962C8B-B14F-4D97-AF65-F5344CB8AC3E}">
        <p14:creationId xmlns:p14="http://schemas.microsoft.com/office/powerpoint/2010/main" val="1714835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CA664-4F38-419D-381E-3C06716A3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the System Decides?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5CDCF-60D0-CED8-7505-B97A2566C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Standard AI finds patterns (Correlations): 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Probability of readmission given patient features, P(Y | X)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CARE-AI looks for causes (Causality): 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Probability of readmission if we modify a certain feature, P(Y | do(X))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948A4F-F9D2-C7A9-4989-B66A0183DF00}"/>
              </a:ext>
            </a:extLst>
          </p:cNvPr>
          <p:cNvSpPr txBox="1"/>
          <p:nvPr/>
        </p:nvSpPr>
        <p:spPr>
          <a:xfrm>
            <a:off x="576923" y="2091707"/>
            <a:ext cx="3442656" cy="10618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05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Causal Discovery</a:t>
            </a:r>
          </a:p>
          <a:p>
            <a:pPr algn="l">
              <a:buNone/>
            </a:pPr>
            <a:r>
              <a:rPr lang="en-US" sz="105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“What is driving the risk?”</a:t>
            </a:r>
          </a:p>
          <a:p>
            <a:pPr algn="l">
              <a:buNone/>
            </a:pPr>
            <a:endParaRPr lang="en-US" sz="10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None/>
            </a:pPr>
            <a:r>
              <a:rPr lang="en-US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separates noise (e.g., </a:t>
            </a: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Patient is elderly”) from </a:t>
            </a:r>
            <a:r>
              <a:rPr lang="en-US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actionable causes </a:t>
            </a:r>
            <a:r>
              <a:rPr lang="en-US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(e.g., “Patient lacks home support”).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CAACC5-D739-63C0-907F-A319FABE052B}"/>
              </a:ext>
            </a:extLst>
          </p:cNvPr>
          <p:cNvSpPr txBox="1"/>
          <p:nvPr/>
        </p:nvSpPr>
        <p:spPr>
          <a:xfrm>
            <a:off x="5124423" y="2091707"/>
            <a:ext cx="3442656" cy="10618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05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Impact Estimation</a:t>
            </a:r>
          </a:p>
          <a:p>
            <a:pPr algn="l">
              <a:buNone/>
            </a:pPr>
            <a:r>
              <a:rPr lang="en-US" sz="105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“What works for THIS patient?</a:t>
            </a:r>
            <a:r>
              <a:rPr lang="en-US" sz="1050" i="1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en-US" sz="105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None/>
            </a:pPr>
            <a:endParaRPr lang="en-US" sz="10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None/>
            </a:pPr>
            <a:r>
              <a:rPr lang="en-US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calculates the </a:t>
            </a:r>
            <a:r>
              <a:rPr lang="en-US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personalized benefit</a:t>
            </a:r>
            <a:r>
              <a:rPr lang="en-US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Intervention A might work for Patient X, but Intervention B is better for Patient 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A5AD2F-757A-F088-ABA7-3DEDF5149653}"/>
              </a:ext>
            </a:extLst>
          </p:cNvPr>
          <p:cNvSpPr txBox="1"/>
          <p:nvPr/>
        </p:nvSpPr>
        <p:spPr>
          <a:xfrm>
            <a:off x="2741077" y="3580613"/>
            <a:ext cx="3784628" cy="106182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05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Optimal Care Path</a:t>
            </a:r>
          </a:p>
          <a:p>
            <a:pPr algn="l">
              <a:buNone/>
            </a:pPr>
            <a:r>
              <a:rPr lang="en-US" sz="105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“When is the right time?</a:t>
            </a:r>
            <a:r>
              <a:rPr lang="en-US" sz="1050" i="1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en-US" sz="105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None/>
            </a:pPr>
            <a:endParaRPr lang="en-US" sz="10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plans the </a:t>
            </a:r>
            <a:r>
              <a:rPr lang="en-US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sequence </a:t>
            </a:r>
            <a:r>
              <a:rPr lang="en-US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the most beneficial interventions over time to minimize readmission risk, i.e., an optimal,</a:t>
            </a:r>
            <a:r>
              <a:rPr lang="en-US" sz="1050" b="1" dirty="0">
                <a:solidFill>
                  <a:schemeClr val="tx1"/>
                </a:solidFill>
              </a:rPr>
              <a:t> individualized policy</a:t>
            </a:r>
            <a:r>
              <a:rPr lang="en-US" sz="1050" dirty="0">
                <a:solidFill>
                  <a:schemeClr val="tx1"/>
                </a:solidFill>
              </a:rPr>
              <a:t>.</a:t>
            </a:r>
            <a:endParaRPr lang="en-US" sz="10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9462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ABAAF-9448-557C-7AE5-99E3A671A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Methodology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E164312-10A8-247C-BB16-42BAEA78081C}"/>
              </a:ext>
            </a:extLst>
          </p:cNvPr>
          <p:cNvSpPr txBox="1">
            <a:spLocks/>
          </p:cNvSpPr>
          <p:nvPr/>
        </p:nvSpPr>
        <p:spPr>
          <a:xfrm>
            <a:off x="311700" y="1212725"/>
            <a:ext cx="2166148" cy="3266892"/>
          </a:xfrm>
          <a:custGeom>
            <a:avLst/>
            <a:gdLst>
              <a:gd name="csX0" fmla="*/ 0 w 2166148"/>
              <a:gd name="csY0" fmla="*/ 0 h 3266892"/>
              <a:gd name="csX1" fmla="*/ 498214 w 2166148"/>
              <a:gd name="csY1" fmla="*/ 0 h 3266892"/>
              <a:gd name="csX2" fmla="*/ 996428 w 2166148"/>
              <a:gd name="csY2" fmla="*/ 0 h 3266892"/>
              <a:gd name="csX3" fmla="*/ 1472981 w 2166148"/>
              <a:gd name="csY3" fmla="*/ 0 h 3266892"/>
              <a:gd name="csX4" fmla="*/ 2166148 w 2166148"/>
              <a:gd name="csY4" fmla="*/ 0 h 3266892"/>
              <a:gd name="csX5" fmla="*/ 2166148 w 2166148"/>
              <a:gd name="csY5" fmla="*/ 544482 h 3266892"/>
              <a:gd name="csX6" fmla="*/ 2166148 w 2166148"/>
              <a:gd name="csY6" fmla="*/ 1121633 h 3266892"/>
              <a:gd name="csX7" fmla="*/ 2166148 w 2166148"/>
              <a:gd name="csY7" fmla="*/ 1600777 h 3266892"/>
              <a:gd name="csX8" fmla="*/ 2166148 w 2166148"/>
              <a:gd name="csY8" fmla="*/ 2145259 h 3266892"/>
              <a:gd name="csX9" fmla="*/ 2166148 w 2166148"/>
              <a:gd name="csY9" fmla="*/ 2722410 h 3266892"/>
              <a:gd name="csX10" fmla="*/ 2166148 w 2166148"/>
              <a:gd name="csY10" fmla="*/ 3266892 h 3266892"/>
              <a:gd name="csX11" fmla="*/ 1624611 w 2166148"/>
              <a:gd name="csY11" fmla="*/ 3266892 h 3266892"/>
              <a:gd name="csX12" fmla="*/ 1039751 w 2166148"/>
              <a:gd name="csY12" fmla="*/ 3266892 h 3266892"/>
              <a:gd name="csX13" fmla="*/ 476553 w 2166148"/>
              <a:gd name="csY13" fmla="*/ 3266892 h 3266892"/>
              <a:gd name="csX14" fmla="*/ 0 w 2166148"/>
              <a:gd name="csY14" fmla="*/ 3266892 h 3266892"/>
              <a:gd name="csX15" fmla="*/ 0 w 2166148"/>
              <a:gd name="csY15" fmla="*/ 2755079 h 3266892"/>
              <a:gd name="csX16" fmla="*/ 0 w 2166148"/>
              <a:gd name="csY16" fmla="*/ 2177928 h 3266892"/>
              <a:gd name="csX17" fmla="*/ 0 w 2166148"/>
              <a:gd name="csY17" fmla="*/ 1666115 h 3266892"/>
              <a:gd name="csX18" fmla="*/ 0 w 2166148"/>
              <a:gd name="csY18" fmla="*/ 1056295 h 3266892"/>
              <a:gd name="csX19" fmla="*/ 0 w 2166148"/>
              <a:gd name="csY19" fmla="*/ 511813 h 3266892"/>
              <a:gd name="csX20" fmla="*/ 0 w 2166148"/>
              <a:gd name="csY20" fmla="*/ 0 h 32668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2166148" h="3266892" fill="none" extrusionOk="0">
                <a:moveTo>
                  <a:pt x="0" y="0"/>
                </a:moveTo>
                <a:cubicBezTo>
                  <a:pt x="208688" y="-24762"/>
                  <a:pt x="342842" y="58011"/>
                  <a:pt x="498214" y="0"/>
                </a:cubicBezTo>
                <a:cubicBezTo>
                  <a:pt x="653586" y="-58011"/>
                  <a:pt x="870240" y="13683"/>
                  <a:pt x="996428" y="0"/>
                </a:cubicBezTo>
                <a:cubicBezTo>
                  <a:pt x="1122616" y="-13683"/>
                  <a:pt x="1235270" y="39870"/>
                  <a:pt x="1472981" y="0"/>
                </a:cubicBezTo>
                <a:cubicBezTo>
                  <a:pt x="1710692" y="-39870"/>
                  <a:pt x="1861447" y="40656"/>
                  <a:pt x="2166148" y="0"/>
                </a:cubicBezTo>
                <a:cubicBezTo>
                  <a:pt x="2206224" y="187569"/>
                  <a:pt x="2121594" y="409292"/>
                  <a:pt x="2166148" y="544482"/>
                </a:cubicBezTo>
                <a:cubicBezTo>
                  <a:pt x="2210702" y="679672"/>
                  <a:pt x="2150119" y="978605"/>
                  <a:pt x="2166148" y="1121633"/>
                </a:cubicBezTo>
                <a:cubicBezTo>
                  <a:pt x="2182177" y="1264661"/>
                  <a:pt x="2118035" y="1488365"/>
                  <a:pt x="2166148" y="1600777"/>
                </a:cubicBezTo>
                <a:cubicBezTo>
                  <a:pt x="2214261" y="1713189"/>
                  <a:pt x="2123685" y="1957924"/>
                  <a:pt x="2166148" y="2145259"/>
                </a:cubicBezTo>
                <a:cubicBezTo>
                  <a:pt x="2208611" y="2332594"/>
                  <a:pt x="2146610" y="2436728"/>
                  <a:pt x="2166148" y="2722410"/>
                </a:cubicBezTo>
                <a:cubicBezTo>
                  <a:pt x="2185686" y="3008092"/>
                  <a:pt x="2128463" y="3145826"/>
                  <a:pt x="2166148" y="3266892"/>
                </a:cubicBezTo>
                <a:cubicBezTo>
                  <a:pt x="1975652" y="3285428"/>
                  <a:pt x="1783333" y="3265078"/>
                  <a:pt x="1624611" y="3266892"/>
                </a:cubicBezTo>
                <a:cubicBezTo>
                  <a:pt x="1465889" y="3268706"/>
                  <a:pt x="1169892" y="3246460"/>
                  <a:pt x="1039751" y="3266892"/>
                </a:cubicBezTo>
                <a:cubicBezTo>
                  <a:pt x="909610" y="3287324"/>
                  <a:pt x="732468" y="3232382"/>
                  <a:pt x="476553" y="3266892"/>
                </a:cubicBezTo>
                <a:cubicBezTo>
                  <a:pt x="220638" y="3301402"/>
                  <a:pt x="217980" y="3241128"/>
                  <a:pt x="0" y="3266892"/>
                </a:cubicBezTo>
                <a:cubicBezTo>
                  <a:pt x="-28615" y="3080006"/>
                  <a:pt x="1029" y="2992736"/>
                  <a:pt x="0" y="2755079"/>
                </a:cubicBezTo>
                <a:cubicBezTo>
                  <a:pt x="-1029" y="2517422"/>
                  <a:pt x="57413" y="2300693"/>
                  <a:pt x="0" y="2177928"/>
                </a:cubicBezTo>
                <a:cubicBezTo>
                  <a:pt x="-57413" y="2055163"/>
                  <a:pt x="13601" y="1835426"/>
                  <a:pt x="0" y="1666115"/>
                </a:cubicBezTo>
                <a:cubicBezTo>
                  <a:pt x="-13601" y="1496804"/>
                  <a:pt x="11184" y="1222253"/>
                  <a:pt x="0" y="1056295"/>
                </a:cubicBezTo>
                <a:cubicBezTo>
                  <a:pt x="-11184" y="890337"/>
                  <a:pt x="27364" y="740032"/>
                  <a:pt x="0" y="511813"/>
                </a:cubicBezTo>
                <a:cubicBezTo>
                  <a:pt x="-27364" y="283594"/>
                  <a:pt x="17968" y="235137"/>
                  <a:pt x="0" y="0"/>
                </a:cubicBezTo>
                <a:close/>
              </a:path>
              <a:path w="2166148" h="3266892" stroke="0" extrusionOk="0">
                <a:moveTo>
                  <a:pt x="0" y="0"/>
                </a:moveTo>
                <a:cubicBezTo>
                  <a:pt x="158394" y="-34471"/>
                  <a:pt x="271808" y="58060"/>
                  <a:pt x="541537" y="0"/>
                </a:cubicBezTo>
                <a:cubicBezTo>
                  <a:pt x="811266" y="-58060"/>
                  <a:pt x="1004912" y="52860"/>
                  <a:pt x="1126397" y="0"/>
                </a:cubicBezTo>
                <a:cubicBezTo>
                  <a:pt x="1247882" y="-52860"/>
                  <a:pt x="1404016" y="5048"/>
                  <a:pt x="1602950" y="0"/>
                </a:cubicBezTo>
                <a:cubicBezTo>
                  <a:pt x="1801884" y="-5048"/>
                  <a:pt x="2039058" y="45151"/>
                  <a:pt x="2166148" y="0"/>
                </a:cubicBezTo>
                <a:cubicBezTo>
                  <a:pt x="2227015" y="183211"/>
                  <a:pt x="2114216" y="364816"/>
                  <a:pt x="2166148" y="577151"/>
                </a:cubicBezTo>
                <a:cubicBezTo>
                  <a:pt x="2218080" y="789486"/>
                  <a:pt x="2110613" y="917217"/>
                  <a:pt x="2166148" y="1121633"/>
                </a:cubicBezTo>
                <a:cubicBezTo>
                  <a:pt x="2221683" y="1326049"/>
                  <a:pt x="2103288" y="1593912"/>
                  <a:pt x="2166148" y="1731453"/>
                </a:cubicBezTo>
                <a:cubicBezTo>
                  <a:pt x="2229008" y="1868994"/>
                  <a:pt x="2164964" y="2111698"/>
                  <a:pt x="2166148" y="2308604"/>
                </a:cubicBezTo>
                <a:cubicBezTo>
                  <a:pt x="2167332" y="2505510"/>
                  <a:pt x="2122608" y="2558640"/>
                  <a:pt x="2166148" y="2755079"/>
                </a:cubicBezTo>
                <a:cubicBezTo>
                  <a:pt x="2209688" y="2951518"/>
                  <a:pt x="2165359" y="3156368"/>
                  <a:pt x="2166148" y="3266892"/>
                </a:cubicBezTo>
                <a:cubicBezTo>
                  <a:pt x="1963733" y="3307242"/>
                  <a:pt x="1871267" y="3264647"/>
                  <a:pt x="1646272" y="3266892"/>
                </a:cubicBezTo>
                <a:cubicBezTo>
                  <a:pt x="1421277" y="3269137"/>
                  <a:pt x="1259542" y="3208316"/>
                  <a:pt x="1061413" y="3266892"/>
                </a:cubicBezTo>
                <a:cubicBezTo>
                  <a:pt x="863284" y="3325468"/>
                  <a:pt x="787097" y="3240781"/>
                  <a:pt x="563198" y="3266892"/>
                </a:cubicBezTo>
                <a:cubicBezTo>
                  <a:pt x="339300" y="3293003"/>
                  <a:pt x="134723" y="3249778"/>
                  <a:pt x="0" y="3266892"/>
                </a:cubicBezTo>
                <a:cubicBezTo>
                  <a:pt x="-32163" y="2999998"/>
                  <a:pt x="63433" y="2848720"/>
                  <a:pt x="0" y="2722410"/>
                </a:cubicBezTo>
                <a:cubicBezTo>
                  <a:pt x="-63433" y="2596100"/>
                  <a:pt x="1264" y="2482167"/>
                  <a:pt x="0" y="2275935"/>
                </a:cubicBezTo>
                <a:cubicBezTo>
                  <a:pt x="-1264" y="2069703"/>
                  <a:pt x="40736" y="1955078"/>
                  <a:pt x="0" y="1796791"/>
                </a:cubicBezTo>
                <a:cubicBezTo>
                  <a:pt x="-40736" y="1638504"/>
                  <a:pt x="19261" y="1495897"/>
                  <a:pt x="0" y="1317646"/>
                </a:cubicBezTo>
                <a:cubicBezTo>
                  <a:pt x="-19261" y="1139396"/>
                  <a:pt x="33276" y="882161"/>
                  <a:pt x="0" y="740496"/>
                </a:cubicBezTo>
                <a:cubicBezTo>
                  <a:pt x="-33276" y="598831"/>
                  <a:pt x="63237" y="316229"/>
                  <a:pt x="0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19050">
            <a:noFill/>
            <a:prstDash val="solid"/>
            <a:extLst>
              <a:ext uri="{C807C97D-BFC1-408E-A445-0C87EB9F89A2}">
                <ask:lineSketchStyleProps xmlns:ask="http://schemas.microsoft.com/office/drawing/2018/sketchyshapes" sd="48171178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9556" indent="-259556"/>
            <a:r>
              <a:rPr lang="en-US" sz="1200" b="1" dirty="0">
                <a:solidFill>
                  <a:schemeClr val="accent1">
                    <a:lumMod val="50000"/>
                  </a:schemeClr>
                </a:solidFill>
              </a:rPr>
              <a:t>Risk Prediction</a:t>
            </a:r>
            <a:br>
              <a:rPr lang="en-US" sz="12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Identify high-risk patients from data</a:t>
            </a:r>
          </a:p>
          <a:p>
            <a:r>
              <a:rPr lang="en-US" sz="1200" b="1" dirty="0">
                <a:solidFill>
                  <a:schemeClr val="accent1">
                    <a:lumMod val="50000"/>
                  </a:schemeClr>
                </a:solidFill>
              </a:rPr>
              <a:t>Causal Discovery</a:t>
            </a:r>
            <a:br>
              <a:rPr lang="en-US" sz="12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Identify modifiable factors causing readmissions</a:t>
            </a:r>
          </a:p>
          <a:p>
            <a:r>
              <a:rPr lang="en-US" sz="1200" b="1" dirty="0">
                <a:solidFill>
                  <a:schemeClr val="accent1">
                    <a:lumMod val="50000"/>
                  </a:schemeClr>
                </a:solidFill>
              </a:rPr>
              <a:t>HTE Estimation</a:t>
            </a:r>
            <a:br>
              <a:rPr lang="en-US" sz="12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Estimate heterogeneous treatment effects</a:t>
            </a:r>
          </a:p>
          <a:p>
            <a:r>
              <a:rPr lang="en-US" sz="1200" b="1" dirty="0">
                <a:solidFill>
                  <a:schemeClr val="accent1">
                    <a:lumMod val="50000"/>
                  </a:schemeClr>
                </a:solidFill>
              </a:rPr>
              <a:t>Causal RL</a:t>
            </a:r>
            <a:br>
              <a:rPr lang="en-US" sz="12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Suggest optimal targeted interventions</a:t>
            </a:r>
          </a:p>
        </p:txBody>
      </p:sp>
      <p:pic>
        <p:nvPicPr>
          <p:cNvPr id="35" name="Picture 3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53DD5D7-1256-4AE9-4DD6-AFE50081E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9290" y="561702"/>
            <a:ext cx="6285981" cy="419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273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5A4A5-DAA5-A4B2-1F3E-CD06C4708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170" y="217431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dirty="0"/>
              <a:t>Virtual Clinical Trial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706EB0C-DBBC-3ABD-483D-BA0F5598938B}"/>
              </a:ext>
            </a:extLst>
          </p:cNvPr>
          <p:cNvSpPr/>
          <p:nvPr/>
        </p:nvSpPr>
        <p:spPr>
          <a:xfrm>
            <a:off x="851772" y="1714433"/>
            <a:ext cx="2830882" cy="205426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FF8FCBF-57AB-0524-6118-205206DFA208}"/>
              </a:ext>
            </a:extLst>
          </p:cNvPr>
          <p:cNvSpPr/>
          <p:nvPr/>
        </p:nvSpPr>
        <p:spPr>
          <a:xfrm>
            <a:off x="5461347" y="1714433"/>
            <a:ext cx="2830882" cy="205426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4D147E-83C5-CE7A-27E7-F9993E473AA6}"/>
              </a:ext>
            </a:extLst>
          </p:cNvPr>
          <p:cNvSpPr txBox="1"/>
          <p:nvPr/>
        </p:nvSpPr>
        <p:spPr>
          <a:xfrm>
            <a:off x="1334104" y="1714433"/>
            <a:ext cx="186621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CARE-Sim </a:t>
            </a:r>
          </a:p>
          <a:p>
            <a:pPr algn="ctr"/>
            <a:r>
              <a:rPr lang="en-US" dirty="0"/>
              <a:t>(Virtual Environment)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A45382-25FF-B44F-7DF2-7AF4803B5E69}"/>
              </a:ext>
            </a:extLst>
          </p:cNvPr>
          <p:cNvSpPr txBox="1"/>
          <p:nvPr/>
        </p:nvSpPr>
        <p:spPr>
          <a:xfrm>
            <a:off x="6369277" y="1714433"/>
            <a:ext cx="10150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CARE-AI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C2CD365-F9B0-2B1E-6BDA-359747054D90}"/>
              </a:ext>
            </a:extLst>
          </p:cNvPr>
          <p:cNvSpPr/>
          <p:nvPr/>
        </p:nvSpPr>
        <p:spPr>
          <a:xfrm>
            <a:off x="1334103" y="2353260"/>
            <a:ext cx="1866217" cy="388307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Virtual Patients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299B80C-928D-8459-19FB-F6D0F1E479E1}"/>
              </a:ext>
            </a:extLst>
          </p:cNvPr>
          <p:cNvSpPr/>
          <p:nvPr/>
        </p:nvSpPr>
        <p:spPr>
          <a:xfrm>
            <a:off x="1334102" y="3186240"/>
            <a:ext cx="1866217" cy="388307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Trajectory Simulator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D477EB3-CC29-3421-7632-E01FDF7906DD}"/>
              </a:ext>
            </a:extLst>
          </p:cNvPr>
          <p:cNvSpPr/>
          <p:nvPr/>
        </p:nvSpPr>
        <p:spPr>
          <a:xfrm>
            <a:off x="5943680" y="2353259"/>
            <a:ext cx="1866217" cy="38830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Risk Analysis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6C0D400-0C25-1681-808C-103E3B3D7CF9}"/>
              </a:ext>
            </a:extLst>
          </p:cNvPr>
          <p:cNvSpPr/>
          <p:nvPr/>
        </p:nvSpPr>
        <p:spPr>
          <a:xfrm>
            <a:off x="5943680" y="3186238"/>
            <a:ext cx="1866217" cy="38830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Intervention Plan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39A5E0C-8FAF-6692-83FE-49433106CC6F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3200320" y="2547412"/>
            <a:ext cx="2743360" cy="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195706B-4D9F-8D4F-D7A0-64A82AC7AEA4}"/>
              </a:ext>
            </a:extLst>
          </p:cNvPr>
          <p:cNvCxnSpPr>
            <a:cxnSpLocks/>
          </p:cNvCxnSpPr>
          <p:nvPr/>
        </p:nvCxnSpPr>
        <p:spPr>
          <a:xfrm flipV="1">
            <a:off x="3200320" y="3380391"/>
            <a:ext cx="2743360" cy="2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A8CB13D-CD5F-5220-516E-3C7F6BED84DC}"/>
              </a:ext>
            </a:extLst>
          </p:cNvPr>
          <p:cNvCxnSpPr>
            <a:cxnSpLocks/>
          </p:cNvCxnSpPr>
          <p:nvPr/>
        </p:nvCxnSpPr>
        <p:spPr>
          <a:xfrm flipV="1">
            <a:off x="2267208" y="3574545"/>
            <a:ext cx="0" cy="44467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4CD5FEC2-888B-B34B-D04A-552C5DA5D841}"/>
              </a:ext>
            </a:extLst>
          </p:cNvPr>
          <p:cNvCxnSpPr>
            <a:endCxn id="11" idx="2"/>
          </p:cNvCxnSpPr>
          <p:nvPr/>
        </p:nvCxnSpPr>
        <p:spPr>
          <a:xfrm flipV="1">
            <a:off x="2267210" y="3574545"/>
            <a:ext cx="4609579" cy="437070"/>
          </a:xfrm>
          <a:prstGeom prst="bentConnector2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96F0287B-1E17-DC97-AE3D-925BAC7CC190}"/>
              </a:ext>
            </a:extLst>
          </p:cNvPr>
          <p:cNvSpPr txBox="1"/>
          <p:nvPr/>
        </p:nvSpPr>
        <p:spPr>
          <a:xfrm>
            <a:off x="4020819" y="2215359"/>
            <a:ext cx="11705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Patient Data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90FC617-69E8-A74F-9514-EE3A1446697C}"/>
              </a:ext>
            </a:extLst>
          </p:cNvPr>
          <p:cNvSpPr txBox="1"/>
          <p:nvPr/>
        </p:nvSpPr>
        <p:spPr>
          <a:xfrm>
            <a:off x="3674557" y="3056623"/>
            <a:ext cx="18469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Outcome / Validation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E9E1DB5-B452-8782-8BA2-C1D50F9D5175}"/>
              </a:ext>
            </a:extLst>
          </p:cNvPr>
          <p:cNvSpPr txBox="1"/>
          <p:nvPr/>
        </p:nvSpPr>
        <p:spPr>
          <a:xfrm>
            <a:off x="3748696" y="3679260"/>
            <a:ext cx="16466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Simulated Action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9880A56-1A97-3C5B-99A5-71A76A96623C}"/>
              </a:ext>
            </a:extLst>
          </p:cNvPr>
          <p:cNvSpPr txBox="1"/>
          <p:nvPr/>
        </p:nvSpPr>
        <p:spPr>
          <a:xfrm>
            <a:off x="248195" y="772511"/>
            <a:ext cx="863454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1" dirty="0">
                <a:solidFill>
                  <a:srgbClr val="66666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Simulate thousands of patient journeys to ensure the AI's recommendations are safe and effective.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DDAE7D-F385-F5E4-1487-E0924928B705}"/>
              </a:ext>
            </a:extLst>
          </p:cNvPr>
          <p:cNvSpPr txBox="1"/>
          <p:nvPr/>
        </p:nvSpPr>
        <p:spPr>
          <a:xfrm>
            <a:off x="496390" y="4329143"/>
            <a:ext cx="813816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u="sng" dirty="0">
                <a:solidFill>
                  <a:schemeClr val="accent1">
                    <a:lumMod val="50000"/>
                  </a:schemeClr>
                </a:solidFill>
              </a:rPr>
              <a:t>Challenge:</a:t>
            </a:r>
            <a:r>
              <a:rPr lang="en-US" sz="1500" dirty="0">
                <a:solidFill>
                  <a:schemeClr val="accent1">
                    <a:lumMod val="50000"/>
                  </a:schemeClr>
                </a:solidFill>
              </a:rPr>
              <a:t> How do we develop a generative model of patient health trajectories that are plausible (i.e., based on </a:t>
            </a:r>
            <a:r>
              <a:rPr lang="en-US" sz="1500" b="1" dirty="0">
                <a:solidFill>
                  <a:schemeClr val="accent1">
                    <a:lumMod val="50000"/>
                  </a:schemeClr>
                </a:solidFill>
              </a:rPr>
              <a:t>clinical logic priors</a:t>
            </a:r>
            <a:r>
              <a:rPr lang="en-US" sz="1500" dirty="0">
                <a:solidFill>
                  <a:schemeClr val="accent1">
                    <a:lumMod val="50000"/>
                  </a:schemeClr>
                </a:solidFill>
              </a:rPr>
              <a:t>) to serve as a rigorous 'Ground Truth' for our AI, while ensuring it remains statistically faithful to the real data?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51F71C-7CD5-42F3-5B78-8D35D7A2117D}"/>
              </a:ext>
            </a:extLst>
          </p:cNvPr>
          <p:cNvSpPr txBox="1"/>
          <p:nvPr/>
        </p:nvSpPr>
        <p:spPr>
          <a:xfrm>
            <a:off x="0" y="1206620"/>
            <a:ext cx="19358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0070C0"/>
                </a:solidFill>
              </a:rPr>
              <a:t>Represents the ground truth and patient reality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9D5FF1-2FC1-C234-36F7-09AA12431645}"/>
              </a:ext>
            </a:extLst>
          </p:cNvPr>
          <p:cNvSpPr txBox="1"/>
          <p:nvPr/>
        </p:nvSpPr>
        <p:spPr>
          <a:xfrm>
            <a:off x="7072446" y="1206926"/>
            <a:ext cx="2071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0070C0"/>
                </a:solidFill>
              </a:rPr>
              <a:t>Identifies causal graphs and suggests interventions</a:t>
            </a:r>
          </a:p>
        </p:txBody>
      </p:sp>
    </p:spTree>
    <p:extLst>
      <p:ext uri="{BB962C8B-B14F-4D97-AF65-F5344CB8AC3E}">
        <p14:creationId xmlns:p14="http://schemas.microsoft.com/office/powerpoint/2010/main" val="2011941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1312</TotalTime>
  <Words>722</Words>
  <Application>Microsoft Office PowerPoint</Application>
  <PresentationFormat>Bildspel på skärmen (16:9)</PresentationFormat>
  <Paragraphs>87</Paragraphs>
  <Slides>7</Slides>
  <Notes>2</Notes>
  <HiddenSlides>0</HiddenSlides>
  <MMClips>0</MMClips>
  <ScaleCrop>false</ScaleCrop>
  <HeadingPairs>
    <vt:vector size="6" baseType="variant">
      <vt:variant>
        <vt:lpstr>Använt teckensnitt</vt:lpstr>
      </vt:variant>
      <vt:variant>
        <vt:i4>1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7</vt:i4>
      </vt:variant>
    </vt:vector>
  </HeadingPairs>
  <TitlesOfParts>
    <vt:vector size="9" baseType="lpstr">
      <vt:lpstr>Arial</vt:lpstr>
      <vt:lpstr>Simple Light</vt:lpstr>
      <vt:lpstr>CARE-AI</vt:lpstr>
      <vt:lpstr>CARE-AI Project</vt:lpstr>
      <vt:lpstr>Clinical Decision Support System</vt:lpstr>
      <vt:lpstr>How the System would Work (Patient Flow)</vt:lpstr>
      <vt:lpstr>How the System Decides?</vt:lpstr>
      <vt:lpstr>Methodology</vt:lpstr>
      <vt:lpstr>Virtual Clinical Trial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ValterAdmin</dc:creator>
  <cp:lastModifiedBy>Valter Strandler</cp:lastModifiedBy>
  <cp:revision>6</cp:revision>
  <dcterms:modified xsi:type="dcterms:W3CDTF">2026-04-02T16:37:40Z</dcterms:modified>
</cp:coreProperties>
</file>